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256" y="-9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2303" y="9954768"/>
            <a:ext cx="588264" cy="19507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839712" y="10101072"/>
            <a:ext cx="322580" cy="18415"/>
          </a:xfrm>
          <a:custGeom>
            <a:avLst/>
            <a:gdLst/>
            <a:ahLst/>
            <a:cxnLst/>
            <a:rect l="l" t="t" r="r" b="b"/>
            <a:pathLst>
              <a:path w="322579" h="18415">
                <a:moveTo>
                  <a:pt x="14008" y="0"/>
                </a:moveTo>
                <a:lnTo>
                  <a:pt x="0" y="0"/>
                </a:lnTo>
                <a:lnTo>
                  <a:pt x="0" y="18224"/>
                </a:lnTo>
                <a:lnTo>
                  <a:pt x="14008" y="18224"/>
                </a:lnTo>
                <a:lnTo>
                  <a:pt x="14008" y="0"/>
                </a:lnTo>
                <a:close/>
              </a:path>
              <a:path w="322579" h="18415">
                <a:moveTo>
                  <a:pt x="45224" y="0"/>
                </a:moveTo>
                <a:lnTo>
                  <a:pt x="30861" y="0"/>
                </a:lnTo>
                <a:lnTo>
                  <a:pt x="30861" y="18224"/>
                </a:lnTo>
                <a:lnTo>
                  <a:pt x="45224" y="18224"/>
                </a:lnTo>
                <a:lnTo>
                  <a:pt x="45224" y="0"/>
                </a:lnTo>
                <a:close/>
              </a:path>
              <a:path w="322579" h="18415">
                <a:moveTo>
                  <a:pt x="71221" y="0"/>
                </a:moveTo>
                <a:lnTo>
                  <a:pt x="56134" y="0"/>
                </a:lnTo>
                <a:lnTo>
                  <a:pt x="56134" y="18224"/>
                </a:lnTo>
                <a:lnTo>
                  <a:pt x="71221" y="18224"/>
                </a:lnTo>
                <a:lnTo>
                  <a:pt x="71221" y="0"/>
                </a:lnTo>
                <a:close/>
              </a:path>
              <a:path w="322579" h="18415">
                <a:moveTo>
                  <a:pt x="97129" y="0"/>
                </a:moveTo>
                <a:lnTo>
                  <a:pt x="82042" y="0"/>
                </a:lnTo>
                <a:lnTo>
                  <a:pt x="82042" y="18224"/>
                </a:lnTo>
                <a:lnTo>
                  <a:pt x="97129" y="18224"/>
                </a:lnTo>
                <a:lnTo>
                  <a:pt x="97129" y="0"/>
                </a:lnTo>
                <a:close/>
              </a:path>
              <a:path w="322579" h="18415">
                <a:moveTo>
                  <a:pt x="120777" y="0"/>
                </a:moveTo>
                <a:lnTo>
                  <a:pt x="106045" y="0"/>
                </a:lnTo>
                <a:lnTo>
                  <a:pt x="106045" y="18224"/>
                </a:lnTo>
                <a:lnTo>
                  <a:pt x="120777" y="18224"/>
                </a:lnTo>
                <a:lnTo>
                  <a:pt x="120777" y="0"/>
                </a:lnTo>
                <a:close/>
              </a:path>
              <a:path w="322579" h="18415">
                <a:moveTo>
                  <a:pt x="144881" y="0"/>
                </a:moveTo>
                <a:lnTo>
                  <a:pt x="129794" y="0"/>
                </a:lnTo>
                <a:lnTo>
                  <a:pt x="129794" y="18224"/>
                </a:lnTo>
                <a:lnTo>
                  <a:pt x="144881" y="18224"/>
                </a:lnTo>
                <a:lnTo>
                  <a:pt x="144881" y="0"/>
                </a:lnTo>
                <a:close/>
              </a:path>
              <a:path w="322579" h="18415">
                <a:moveTo>
                  <a:pt x="166497" y="0"/>
                </a:moveTo>
                <a:lnTo>
                  <a:pt x="151765" y="0"/>
                </a:lnTo>
                <a:lnTo>
                  <a:pt x="151765" y="18224"/>
                </a:lnTo>
                <a:lnTo>
                  <a:pt x="166497" y="18224"/>
                </a:lnTo>
                <a:lnTo>
                  <a:pt x="166497" y="0"/>
                </a:lnTo>
                <a:close/>
              </a:path>
              <a:path w="322579" h="18415">
                <a:moveTo>
                  <a:pt x="192316" y="0"/>
                </a:moveTo>
                <a:lnTo>
                  <a:pt x="178308" y="0"/>
                </a:lnTo>
                <a:lnTo>
                  <a:pt x="178308" y="18224"/>
                </a:lnTo>
                <a:lnTo>
                  <a:pt x="192316" y="18224"/>
                </a:lnTo>
                <a:lnTo>
                  <a:pt x="192316" y="0"/>
                </a:lnTo>
                <a:close/>
              </a:path>
              <a:path w="322579" h="18415">
                <a:moveTo>
                  <a:pt x="223558" y="0"/>
                </a:moveTo>
                <a:lnTo>
                  <a:pt x="209550" y="0"/>
                </a:lnTo>
                <a:lnTo>
                  <a:pt x="209550" y="18224"/>
                </a:lnTo>
                <a:lnTo>
                  <a:pt x="223558" y="18224"/>
                </a:lnTo>
                <a:lnTo>
                  <a:pt x="223558" y="0"/>
                </a:lnTo>
                <a:close/>
              </a:path>
              <a:path w="322579" h="18415">
                <a:moveTo>
                  <a:pt x="249428" y="0"/>
                </a:moveTo>
                <a:lnTo>
                  <a:pt x="234696" y="0"/>
                </a:lnTo>
                <a:lnTo>
                  <a:pt x="234696" y="18224"/>
                </a:lnTo>
                <a:lnTo>
                  <a:pt x="249428" y="18224"/>
                </a:lnTo>
                <a:lnTo>
                  <a:pt x="249428" y="0"/>
                </a:lnTo>
                <a:close/>
              </a:path>
              <a:path w="322579" h="18415">
                <a:moveTo>
                  <a:pt x="275336" y="0"/>
                </a:moveTo>
                <a:lnTo>
                  <a:pt x="260604" y="0"/>
                </a:lnTo>
                <a:lnTo>
                  <a:pt x="260604" y="18224"/>
                </a:lnTo>
                <a:lnTo>
                  <a:pt x="275336" y="18224"/>
                </a:lnTo>
                <a:lnTo>
                  <a:pt x="275336" y="0"/>
                </a:lnTo>
                <a:close/>
              </a:path>
              <a:path w="322579" h="18415">
                <a:moveTo>
                  <a:pt x="299440" y="0"/>
                </a:moveTo>
                <a:lnTo>
                  <a:pt x="284353" y="0"/>
                </a:lnTo>
                <a:lnTo>
                  <a:pt x="284353" y="18224"/>
                </a:lnTo>
                <a:lnTo>
                  <a:pt x="299440" y="18224"/>
                </a:lnTo>
                <a:lnTo>
                  <a:pt x="299440" y="0"/>
                </a:lnTo>
                <a:close/>
              </a:path>
              <a:path w="322579" h="18415">
                <a:moveTo>
                  <a:pt x="322491" y="0"/>
                </a:moveTo>
                <a:lnTo>
                  <a:pt x="308483" y="0"/>
                </a:lnTo>
                <a:lnTo>
                  <a:pt x="308483" y="18224"/>
                </a:lnTo>
                <a:lnTo>
                  <a:pt x="322491" y="18224"/>
                </a:lnTo>
                <a:lnTo>
                  <a:pt x="322491" y="0"/>
                </a:lnTo>
                <a:close/>
              </a:path>
            </a:pathLst>
          </a:custGeom>
          <a:solidFill>
            <a:srgbClr val="201E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44236" y="10140026"/>
            <a:ext cx="21570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8438" y="10299068"/>
            <a:ext cx="2218690" cy="137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1">
                <a:solidFill>
                  <a:srgbClr val="20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6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2.jp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436" y="2753867"/>
            <a:ext cx="6659880" cy="3888000"/>
          </a:xfrm>
          <a:prstGeom prst="rect">
            <a:avLst/>
          </a:prstGeom>
          <a:ln w="9144">
            <a:solidFill>
              <a:srgbClr val="201E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540"/>
              </a:lnSpc>
            </a:pPr>
            <a:endParaRPr lang="en-IN" sz="1400" b="1" spc="-10" dirty="0">
              <a:latin typeface="Times New Roman"/>
              <a:cs typeface="Times New Roman"/>
            </a:endParaRPr>
          </a:p>
          <a:p>
            <a:pPr marL="98425">
              <a:lnSpc>
                <a:spcPts val="1540"/>
              </a:lnSpc>
            </a:pPr>
            <a:r>
              <a:rPr sz="1400" b="1" spc="-10" dirty="0">
                <a:latin typeface="Times New Roman"/>
                <a:cs typeface="Times New Roman"/>
              </a:rPr>
              <a:t>ALGORITHM:</a:t>
            </a:r>
            <a:endParaRPr sz="1400" dirty="0">
              <a:latin typeface="Times New Roman"/>
              <a:cs typeface="Times New Roman"/>
            </a:endParaRPr>
          </a:p>
          <a:p>
            <a:pPr marL="363220" indent="-114935">
              <a:lnSpc>
                <a:spcPts val="1370"/>
              </a:lnSpc>
              <a:spcBef>
                <a:spcPts val="365"/>
              </a:spcBef>
              <a:buSzPct val="83333"/>
              <a:buAutoNum type="arabicPeriod"/>
              <a:tabLst>
                <a:tab pos="363220" algn="l"/>
              </a:tabLst>
            </a:pPr>
            <a:r>
              <a:rPr sz="1600" spc="-10" dirty="0">
                <a:latin typeface="Times New Roman"/>
                <a:cs typeface="Times New Roman"/>
              </a:rPr>
              <a:t>Install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MetaMask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wallet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your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browser.</a:t>
            </a:r>
            <a:endParaRPr lang="en-IN" sz="1600" spc="-10" dirty="0">
              <a:latin typeface="Times New Roman"/>
              <a:cs typeface="Times New Roman"/>
            </a:endParaRPr>
          </a:p>
          <a:p>
            <a:pPr marL="591185" indent="-342900">
              <a:lnSpc>
                <a:spcPts val="1370"/>
              </a:lnSpc>
              <a:spcBef>
                <a:spcPts val="365"/>
              </a:spcBef>
              <a:buSzPct val="83333"/>
              <a:buFont typeface="+mj-lt"/>
              <a:buAutoNum type="arabicPeriod"/>
              <a:tabLst>
                <a:tab pos="363220" algn="l"/>
              </a:tabLst>
            </a:pPr>
            <a:endParaRPr sz="1600" dirty="0">
              <a:latin typeface="Times New Roman"/>
              <a:cs typeface="Times New Roman"/>
            </a:endParaRPr>
          </a:p>
          <a:p>
            <a:pPr marL="363220" indent="-114935">
              <a:lnSpc>
                <a:spcPts val="1295"/>
              </a:lnSpc>
              <a:buSzPct val="83333"/>
              <a:buAutoNum type="arabicPeriod"/>
              <a:tabLst>
                <a:tab pos="3632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Switch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Sepolia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Testnet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MetaMask</a:t>
            </a:r>
            <a:r>
              <a:rPr lang="en-IN" sz="1600" spc="-10" dirty="0">
                <a:latin typeface="Times New Roman"/>
                <a:cs typeface="Times New Roman"/>
              </a:rPr>
              <a:t>.</a:t>
            </a:r>
          </a:p>
          <a:p>
            <a:pPr marL="591185" indent="-342900">
              <a:lnSpc>
                <a:spcPts val="1295"/>
              </a:lnSpc>
              <a:buSzPct val="83333"/>
              <a:buFont typeface="+mj-lt"/>
              <a:buAutoNum type="arabicPeriod"/>
              <a:tabLst>
                <a:tab pos="363220" algn="l"/>
              </a:tabLst>
            </a:pPr>
            <a:endParaRPr sz="1600" dirty="0">
              <a:latin typeface="Times New Roman"/>
              <a:cs typeface="Times New Roman"/>
            </a:endParaRPr>
          </a:p>
          <a:p>
            <a:pPr marL="363220" indent="-114935">
              <a:lnSpc>
                <a:spcPts val="1295"/>
              </a:lnSpc>
              <a:buSzPct val="83333"/>
              <a:buAutoNum type="arabicPeriod"/>
              <a:tabLst>
                <a:tab pos="363220" algn="l"/>
              </a:tabLst>
            </a:pP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free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ETH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Sepolia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faucet.</a:t>
            </a:r>
            <a:endParaRPr lang="en-IN" sz="1600" spc="-10" dirty="0">
              <a:latin typeface="Times New Roman"/>
              <a:cs typeface="Times New Roman"/>
            </a:endParaRPr>
          </a:p>
          <a:p>
            <a:pPr marL="591185" indent="-342900">
              <a:lnSpc>
                <a:spcPts val="1295"/>
              </a:lnSpc>
              <a:buSzPct val="83333"/>
              <a:buFont typeface="+mj-lt"/>
              <a:buAutoNum type="arabicPeriod"/>
              <a:tabLst>
                <a:tab pos="363220" algn="l"/>
              </a:tabLst>
            </a:pPr>
            <a:endParaRPr sz="1600" dirty="0">
              <a:latin typeface="Times New Roman"/>
              <a:cs typeface="Times New Roman"/>
            </a:endParaRPr>
          </a:p>
          <a:p>
            <a:pPr marL="363220" indent="-114935">
              <a:lnSpc>
                <a:spcPts val="1310"/>
              </a:lnSpc>
              <a:buSzPct val="83333"/>
              <a:buAutoNum type="arabicPeriod"/>
              <a:tabLst>
                <a:tab pos="363220" algn="l"/>
              </a:tabLst>
            </a:pPr>
            <a:r>
              <a:rPr sz="1600" dirty="0">
                <a:latin typeface="Times New Roman"/>
                <a:cs typeface="Times New Roman"/>
              </a:rPr>
              <a:t>Check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balance 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MetaMask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after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receiving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ETH.</a:t>
            </a:r>
            <a:endParaRPr lang="en-IN" sz="1600" spc="-20" dirty="0">
              <a:latin typeface="Times New Roman"/>
              <a:cs typeface="Times New Roman"/>
            </a:endParaRPr>
          </a:p>
          <a:p>
            <a:pPr marL="591185" indent="-342900">
              <a:lnSpc>
                <a:spcPts val="1310"/>
              </a:lnSpc>
              <a:buSzPct val="83333"/>
              <a:buFont typeface="+mj-lt"/>
              <a:buAutoNum type="arabicPeriod"/>
              <a:tabLst>
                <a:tab pos="363220" algn="l"/>
              </a:tabLst>
            </a:pPr>
            <a:endParaRPr sz="1600" dirty="0">
              <a:latin typeface="Times New Roman"/>
              <a:cs typeface="Times New Roman"/>
            </a:endParaRPr>
          </a:p>
          <a:p>
            <a:pPr marL="363220" indent="-114935">
              <a:lnSpc>
                <a:spcPts val="1355"/>
              </a:lnSpc>
              <a:buSzPct val="83333"/>
              <a:buAutoNum type="arabicPeriod"/>
              <a:tabLst>
                <a:tab pos="363220" algn="l"/>
              </a:tabLst>
            </a:pPr>
            <a:r>
              <a:rPr sz="1600" dirty="0">
                <a:latin typeface="Times New Roman"/>
                <a:cs typeface="Times New Roman"/>
              </a:rPr>
              <a:t>Send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ETH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another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wallet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address.</a:t>
            </a:r>
            <a:endParaRPr lang="en-IN" sz="1600" spc="-10" dirty="0">
              <a:latin typeface="Times New Roman"/>
              <a:cs typeface="Times New Roman"/>
            </a:endParaRPr>
          </a:p>
          <a:p>
            <a:pPr marL="591185" indent="-342900">
              <a:lnSpc>
                <a:spcPts val="1355"/>
              </a:lnSpc>
              <a:buSzPct val="83333"/>
              <a:buFont typeface="+mj-lt"/>
              <a:buAutoNum type="arabicPeriod"/>
              <a:tabLst>
                <a:tab pos="363220" algn="l"/>
              </a:tabLst>
            </a:pPr>
            <a:endParaRPr sz="1600" dirty="0">
              <a:latin typeface="Times New Roman"/>
              <a:cs typeface="Times New Roman"/>
            </a:endParaRPr>
          </a:p>
          <a:p>
            <a:pPr marL="363220" indent="-114935">
              <a:lnSpc>
                <a:spcPts val="1415"/>
              </a:lnSpc>
              <a:buSzPct val="83333"/>
              <a:buAutoNum type="arabicPeriod"/>
              <a:tabLst>
                <a:tab pos="363220" algn="l"/>
              </a:tabLst>
            </a:pPr>
            <a:r>
              <a:rPr sz="1600" dirty="0">
                <a:latin typeface="Times New Roman"/>
                <a:cs typeface="Times New Roman"/>
              </a:rPr>
              <a:t>Confirm </a:t>
            </a:r>
            <a:r>
              <a:rPr sz="1600" spc="-10" dirty="0">
                <a:latin typeface="Times New Roman"/>
                <a:cs typeface="Times New Roman"/>
              </a:rPr>
              <a:t>transaction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Sepolia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Etherscan.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557" y="7996071"/>
            <a:ext cx="6663055" cy="1764000"/>
          </a:xfrm>
          <a:prstGeom prst="rect">
            <a:avLst/>
          </a:prstGeom>
          <a:ln w="9144">
            <a:solidFill>
              <a:srgbClr val="201E1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98755" indent="-114935">
              <a:lnSpc>
                <a:spcPts val="1370"/>
              </a:lnSpc>
              <a:spcBef>
                <a:spcPts val="35"/>
              </a:spcBef>
              <a:buSzPct val="83333"/>
              <a:buAutoNum type="arabicPeriod"/>
              <a:tabLst>
                <a:tab pos="198755" algn="l"/>
              </a:tabLst>
            </a:pPr>
            <a:r>
              <a:rPr lang="en-IN" sz="1600" spc="-10" dirty="0" err="1">
                <a:latin typeface="Times New Roman"/>
                <a:cs typeface="Times New Roman"/>
              </a:rPr>
              <a:t>Metamask</a:t>
            </a:r>
            <a:r>
              <a:rPr lang="en-IN" sz="1600" spc="-10" dirty="0">
                <a:latin typeface="Times New Roman"/>
                <a:cs typeface="Times New Roman"/>
              </a:rPr>
              <a:t> Wallet</a:t>
            </a:r>
          </a:p>
          <a:p>
            <a:pPr marL="426720" indent="-342900">
              <a:lnSpc>
                <a:spcPts val="1370"/>
              </a:lnSpc>
              <a:spcBef>
                <a:spcPts val="35"/>
              </a:spcBef>
              <a:buSzPct val="83333"/>
              <a:buFont typeface="+mj-lt"/>
              <a:buAutoNum type="arabicPeriod"/>
              <a:tabLst>
                <a:tab pos="198755" algn="l"/>
              </a:tabLst>
            </a:pPr>
            <a:endParaRPr lang="en-IN" sz="1600" spc="-10" dirty="0">
              <a:latin typeface="Times New Roman"/>
              <a:cs typeface="Times New Roman"/>
            </a:endParaRPr>
          </a:p>
          <a:p>
            <a:pPr marL="198755" indent="-114935">
              <a:lnSpc>
                <a:spcPts val="1370"/>
              </a:lnSpc>
              <a:spcBef>
                <a:spcPts val="35"/>
              </a:spcBef>
              <a:buSzPct val="83333"/>
              <a:buAutoNum type="arabicPeriod"/>
              <a:tabLst>
                <a:tab pos="198755" algn="l"/>
              </a:tabLst>
            </a:pPr>
            <a:r>
              <a:rPr lang="en-IN" sz="1600" spc="-10" dirty="0">
                <a:latin typeface="Times New Roman"/>
                <a:cs typeface="Times New Roman"/>
              </a:rPr>
              <a:t>Chrome web browser</a:t>
            </a:r>
          </a:p>
          <a:p>
            <a:pPr marL="426720" indent="-342900">
              <a:lnSpc>
                <a:spcPts val="1370"/>
              </a:lnSpc>
              <a:spcBef>
                <a:spcPts val="35"/>
              </a:spcBef>
              <a:buSzPct val="83333"/>
              <a:buFont typeface="+mj-lt"/>
              <a:buAutoNum type="arabicPeriod"/>
              <a:tabLst>
                <a:tab pos="198755" algn="l"/>
              </a:tabLst>
            </a:pPr>
            <a:endParaRPr lang="en-IN" sz="1600" spc="-10" dirty="0">
              <a:latin typeface="Times New Roman"/>
              <a:cs typeface="Times New Roman"/>
            </a:endParaRPr>
          </a:p>
          <a:p>
            <a:pPr marL="198755" indent="-114935">
              <a:lnSpc>
                <a:spcPts val="1370"/>
              </a:lnSpc>
              <a:spcBef>
                <a:spcPts val="35"/>
              </a:spcBef>
              <a:buSzPct val="83333"/>
              <a:buAutoNum type="arabicPeriod"/>
              <a:tabLst>
                <a:tab pos="198755" algn="l"/>
              </a:tabLst>
            </a:pPr>
            <a:r>
              <a:rPr lang="en-IN" sz="1600" spc="-10" dirty="0" err="1">
                <a:latin typeface="Times New Roman"/>
                <a:cs typeface="Times New Roman"/>
              </a:rPr>
              <a:t>Sepolia</a:t>
            </a:r>
            <a:r>
              <a:rPr lang="en-IN" sz="1600" spc="-10" dirty="0">
                <a:latin typeface="Times New Roman"/>
                <a:cs typeface="Times New Roman"/>
              </a:rPr>
              <a:t> test network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043" y="2430526"/>
            <a:ext cx="523049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201E1F"/>
                </a:solidFill>
                <a:latin typeface="Arial"/>
                <a:cs typeface="Arial"/>
              </a:rPr>
              <a:t>*</a:t>
            </a:r>
            <a:r>
              <a:rPr sz="1600" b="1" spc="13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baseline="1736" dirty="0">
                <a:solidFill>
                  <a:srgbClr val="201E1F"/>
                </a:solidFill>
                <a:latin typeface="Arial"/>
                <a:cs typeface="Arial"/>
              </a:rPr>
              <a:t>Coding</a:t>
            </a:r>
            <a:r>
              <a:rPr sz="2400" b="1" spc="-150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spc="-15" baseline="1736" dirty="0">
                <a:solidFill>
                  <a:srgbClr val="201E1F"/>
                </a:solidFill>
                <a:latin typeface="Arial"/>
                <a:cs typeface="Arial"/>
              </a:rPr>
              <a:t>Phase:</a:t>
            </a:r>
            <a:r>
              <a:rPr sz="2400" b="1" spc="-165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spc="-15" baseline="1736" dirty="0">
                <a:solidFill>
                  <a:srgbClr val="201E1F"/>
                </a:solidFill>
                <a:latin typeface="Arial"/>
                <a:cs typeface="Arial"/>
              </a:rPr>
              <a:t>Pseudo</a:t>
            </a:r>
            <a:r>
              <a:rPr sz="2400" b="1" spc="-142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baseline="1736" dirty="0">
                <a:solidFill>
                  <a:srgbClr val="201E1F"/>
                </a:solidFill>
                <a:latin typeface="Arial"/>
                <a:cs typeface="Arial"/>
              </a:rPr>
              <a:t>Code</a:t>
            </a:r>
            <a:r>
              <a:rPr sz="2400" b="1" spc="-120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baseline="1736" dirty="0">
                <a:solidFill>
                  <a:srgbClr val="201E1F"/>
                </a:solidFill>
                <a:latin typeface="Arial"/>
                <a:cs typeface="Arial"/>
              </a:rPr>
              <a:t>/</a:t>
            </a:r>
            <a:r>
              <a:rPr sz="2400" b="1" spc="-82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baseline="1736" dirty="0">
                <a:solidFill>
                  <a:srgbClr val="201E1F"/>
                </a:solidFill>
                <a:latin typeface="Arial"/>
                <a:cs typeface="Arial"/>
              </a:rPr>
              <a:t>Flow</a:t>
            </a:r>
            <a:r>
              <a:rPr sz="2400" b="1" spc="-120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baseline="1736" dirty="0">
                <a:solidFill>
                  <a:srgbClr val="201E1F"/>
                </a:solidFill>
                <a:latin typeface="Arial"/>
                <a:cs typeface="Arial"/>
              </a:rPr>
              <a:t>Chart</a:t>
            </a:r>
            <a:r>
              <a:rPr sz="2400" b="1" spc="-97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baseline="1736" dirty="0">
                <a:solidFill>
                  <a:srgbClr val="201E1F"/>
                </a:solidFill>
                <a:latin typeface="Arial"/>
                <a:cs typeface="Arial"/>
              </a:rPr>
              <a:t>/</a:t>
            </a:r>
            <a:r>
              <a:rPr sz="2400" b="1" spc="-112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2400" b="1" spc="-15" baseline="1736" dirty="0">
                <a:solidFill>
                  <a:srgbClr val="201E1F"/>
                </a:solidFill>
                <a:latin typeface="Arial"/>
                <a:cs typeface="Arial"/>
              </a:rPr>
              <a:t>Algorithm</a:t>
            </a:r>
            <a:endParaRPr sz="2400" baseline="1736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575" y="7577455"/>
            <a:ext cx="1640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Softwares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used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591" y="509016"/>
            <a:ext cx="533400" cy="9083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59" y="2252472"/>
            <a:ext cx="1828800" cy="1402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569464" y="1755606"/>
            <a:ext cx="826135" cy="213995"/>
            <a:chOff x="2569464" y="1755606"/>
            <a:chExt cx="826135" cy="2139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9464" y="1755648"/>
              <a:ext cx="298704" cy="2133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9504" y="1798320"/>
              <a:ext cx="118871" cy="1706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32760" y="1755609"/>
              <a:ext cx="94615" cy="167640"/>
            </a:xfrm>
            <a:custGeom>
              <a:avLst/>
              <a:gdLst/>
              <a:ahLst/>
              <a:cxnLst/>
              <a:rect l="l" t="t" r="r" b="b"/>
              <a:pathLst>
                <a:path w="94614" h="167639">
                  <a:moveTo>
                    <a:pt x="31191" y="76"/>
                  </a:moveTo>
                  <a:lnTo>
                    <a:pt x="0" y="76"/>
                  </a:lnTo>
                  <a:lnTo>
                    <a:pt x="0" y="167297"/>
                  </a:lnTo>
                  <a:lnTo>
                    <a:pt x="31191" y="167297"/>
                  </a:lnTo>
                  <a:lnTo>
                    <a:pt x="31191" y="76"/>
                  </a:lnTo>
                  <a:close/>
                </a:path>
                <a:path w="94614" h="167639">
                  <a:moveTo>
                    <a:pt x="94056" y="45440"/>
                  </a:moveTo>
                  <a:lnTo>
                    <a:pt x="62865" y="45440"/>
                  </a:lnTo>
                  <a:lnTo>
                    <a:pt x="62865" y="167297"/>
                  </a:lnTo>
                  <a:lnTo>
                    <a:pt x="94056" y="167297"/>
                  </a:lnTo>
                  <a:lnTo>
                    <a:pt x="94056" y="45440"/>
                  </a:lnTo>
                  <a:close/>
                </a:path>
                <a:path w="94614" h="167639">
                  <a:moveTo>
                    <a:pt x="94056" y="0"/>
                  </a:moveTo>
                  <a:lnTo>
                    <a:pt x="62865" y="0"/>
                  </a:lnTo>
                  <a:lnTo>
                    <a:pt x="62865" y="28994"/>
                  </a:lnTo>
                  <a:lnTo>
                    <a:pt x="94056" y="28994"/>
                  </a:lnTo>
                  <a:lnTo>
                    <a:pt x="94056" y="0"/>
                  </a:lnTo>
                  <a:close/>
                </a:path>
              </a:pathLst>
            </a:custGeom>
            <a:solidFill>
              <a:srgbClr val="20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8584" y="1755648"/>
              <a:ext cx="246888" cy="17068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480815" y="1755648"/>
            <a:ext cx="384175" cy="170815"/>
            <a:chOff x="3480815" y="1755648"/>
            <a:chExt cx="384175" cy="17081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0815" y="1798320"/>
              <a:ext cx="112775" cy="1280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4927" y="1798320"/>
              <a:ext cx="109727" cy="12496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49039" y="1755648"/>
              <a:ext cx="115824" cy="170688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3934967" y="1755648"/>
            <a:ext cx="695325" cy="170815"/>
            <a:chOff x="3934967" y="1755648"/>
            <a:chExt cx="695325" cy="17081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4967" y="1755648"/>
              <a:ext cx="417575" cy="1706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73879" y="1798320"/>
              <a:ext cx="124967" cy="1280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3231" y="1798320"/>
              <a:ext cx="106679" cy="124968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4724400" y="1755606"/>
            <a:ext cx="935990" cy="216535"/>
            <a:chOff x="4724400" y="1755606"/>
            <a:chExt cx="935990" cy="216535"/>
          </a:xfrm>
        </p:grpSpPr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24400" y="1758696"/>
              <a:ext cx="371855" cy="1676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17591" y="1798320"/>
              <a:ext cx="198120" cy="12496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346192" y="1755609"/>
              <a:ext cx="33655" cy="167640"/>
            </a:xfrm>
            <a:custGeom>
              <a:avLst/>
              <a:gdLst/>
              <a:ahLst/>
              <a:cxnLst/>
              <a:rect l="l" t="t" r="r" b="b"/>
              <a:pathLst>
                <a:path w="33654" h="167639">
                  <a:moveTo>
                    <a:pt x="33515" y="45440"/>
                  </a:moveTo>
                  <a:lnTo>
                    <a:pt x="0" y="45440"/>
                  </a:lnTo>
                  <a:lnTo>
                    <a:pt x="0" y="167297"/>
                  </a:lnTo>
                  <a:lnTo>
                    <a:pt x="33515" y="167297"/>
                  </a:lnTo>
                  <a:lnTo>
                    <a:pt x="33515" y="45440"/>
                  </a:lnTo>
                  <a:close/>
                </a:path>
                <a:path w="33654" h="167639">
                  <a:moveTo>
                    <a:pt x="33515" y="0"/>
                  </a:moveTo>
                  <a:lnTo>
                    <a:pt x="0" y="0"/>
                  </a:lnTo>
                  <a:lnTo>
                    <a:pt x="0" y="28994"/>
                  </a:lnTo>
                  <a:lnTo>
                    <a:pt x="33515" y="28994"/>
                  </a:lnTo>
                  <a:lnTo>
                    <a:pt x="33515" y="0"/>
                  </a:lnTo>
                  <a:close/>
                </a:path>
              </a:pathLst>
            </a:custGeom>
            <a:solidFill>
              <a:srgbClr val="20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0200" y="1798320"/>
              <a:ext cx="109727" cy="1249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44311" y="1798320"/>
              <a:ext cx="115824" cy="17373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22148" y="464820"/>
            <a:ext cx="6696709" cy="1685925"/>
          </a:xfrm>
          <a:prstGeom prst="rect">
            <a:avLst/>
          </a:prstGeom>
          <a:ln w="9144">
            <a:solidFill>
              <a:srgbClr val="201E1F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866775">
              <a:lnSpc>
                <a:spcPct val="100000"/>
              </a:lnSpc>
              <a:spcBef>
                <a:spcPts val="810"/>
              </a:spcBef>
            </a:pP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School:</a:t>
            </a:r>
            <a:r>
              <a:rPr sz="1100" spc="28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solidFill>
                  <a:srgbClr val="201E1F"/>
                </a:solidFill>
                <a:latin typeface="Cambria"/>
                <a:cs typeface="Cambria"/>
              </a:rPr>
              <a:t>.............................................................................................................</a:t>
            </a:r>
            <a:r>
              <a:rPr sz="1100" spc="190" dirty="0">
                <a:solidFill>
                  <a:srgbClr val="201E1F"/>
                </a:solidFill>
                <a:latin typeface="Cambria"/>
                <a:cs typeface="Cambria"/>
              </a:rPr>
              <a:t>  </a:t>
            </a: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Campus:</a:t>
            </a:r>
            <a:r>
              <a:rPr sz="1100" spc="229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.......................................................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Cambria"/>
              <a:cs typeface="Cambria"/>
            </a:endParaRPr>
          </a:p>
          <a:p>
            <a:pPr marL="866775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Academic</a:t>
            </a:r>
            <a:r>
              <a:rPr sz="1100" spc="-2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Year:</a:t>
            </a:r>
            <a:r>
              <a:rPr sz="1100" spc="9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solidFill>
                  <a:srgbClr val="201E1F"/>
                </a:solidFill>
                <a:latin typeface="Cambria"/>
                <a:cs typeface="Cambria"/>
              </a:rPr>
              <a:t>......................</a:t>
            </a:r>
            <a:r>
              <a:rPr sz="1100" spc="5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Subject</a:t>
            </a:r>
            <a:r>
              <a:rPr sz="1100" spc="5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Name:</a:t>
            </a:r>
            <a:r>
              <a:rPr sz="1100" spc="12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solidFill>
                  <a:srgbClr val="201E1F"/>
                </a:solidFill>
                <a:latin typeface="Cambria"/>
                <a:cs typeface="Cambria"/>
              </a:rPr>
              <a:t>...........................................................</a:t>
            </a:r>
            <a:r>
              <a:rPr sz="1100" spc="3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Subject</a:t>
            </a:r>
            <a:r>
              <a:rPr sz="1100" spc="2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Code:</a:t>
            </a:r>
            <a:r>
              <a:rPr sz="1100" spc="10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..........................</a:t>
            </a:r>
            <a:endParaRPr sz="1100">
              <a:latin typeface="Cambria"/>
              <a:cs typeface="Cambria"/>
            </a:endParaRPr>
          </a:p>
          <a:p>
            <a:pPr marL="866775">
              <a:lnSpc>
                <a:spcPct val="100000"/>
              </a:lnSpc>
              <a:spcBef>
                <a:spcPts val="865"/>
              </a:spcBef>
            </a:pP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Semester:</a:t>
            </a:r>
            <a:r>
              <a:rPr sz="1100" spc="-9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...............</a:t>
            </a:r>
            <a:r>
              <a:rPr sz="1100" spc="34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Program:</a:t>
            </a:r>
            <a:r>
              <a:rPr sz="1100" spc="1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solidFill>
                  <a:srgbClr val="201E1F"/>
                </a:solidFill>
                <a:latin typeface="Cambria"/>
                <a:cs typeface="Cambria"/>
              </a:rPr>
              <a:t>........................................</a:t>
            </a:r>
            <a:r>
              <a:rPr sz="1100" spc="-3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Branch:</a:t>
            </a:r>
            <a:r>
              <a:rPr sz="1100" spc="1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.........................</a:t>
            </a:r>
            <a:r>
              <a:rPr sz="1100" spc="40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solidFill>
                  <a:srgbClr val="201E1F"/>
                </a:solidFill>
                <a:latin typeface="Cambria"/>
                <a:cs typeface="Cambria"/>
              </a:rPr>
              <a:t>Specialization:</a:t>
            </a:r>
            <a:r>
              <a:rPr sz="1100" spc="-9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..........................</a:t>
            </a:r>
            <a:endParaRPr sz="1100">
              <a:latin typeface="Cambria"/>
              <a:cs typeface="Cambria"/>
            </a:endParaRPr>
          </a:p>
          <a:p>
            <a:pPr marL="866775">
              <a:lnSpc>
                <a:spcPct val="100000"/>
              </a:lnSpc>
              <a:spcBef>
                <a:spcPts val="1270"/>
              </a:spcBef>
            </a:pPr>
            <a:r>
              <a:rPr sz="1100" dirty="0">
                <a:solidFill>
                  <a:srgbClr val="201E1F"/>
                </a:solidFill>
                <a:latin typeface="Cambria"/>
                <a:cs typeface="Cambria"/>
              </a:rPr>
              <a:t>Date:</a:t>
            </a:r>
            <a:r>
              <a:rPr sz="1100" spc="-5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01E1F"/>
                </a:solidFill>
                <a:latin typeface="Cambria"/>
                <a:cs typeface="Cambria"/>
              </a:rPr>
              <a:t>.....................................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100">
              <a:latin typeface="Cambria"/>
              <a:cs typeface="Cambria"/>
            </a:endParaRPr>
          </a:p>
          <a:p>
            <a:pPr marL="2565400">
              <a:lnSpc>
                <a:spcPct val="100000"/>
              </a:lnSpc>
            </a:pP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(Learning</a:t>
            </a:r>
            <a:r>
              <a:rPr sz="1200" spc="-8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01E1F"/>
                </a:solidFill>
                <a:latin typeface="Cambria"/>
                <a:cs typeface="Cambria"/>
              </a:rPr>
              <a:t>by</a:t>
            </a:r>
            <a:r>
              <a:rPr sz="1200" spc="-3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Doing</a:t>
            </a:r>
            <a:r>
              <a:rPr sz="1200" spc="-6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01E1F"/>
                </a:solidFill>
                <a:latin typeface="Cambria"/>
                <a:cs typeface="Cambria"/>
              </a:rPr>
              <a:t>and</a:t>
            </a:r>
            <a:r>
              <a:rPr sz="1200" spc="1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Discovery)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5673" y="1237297"/>
            <a:ext cx="6672580" cy="8611235"/>
            <a:chOff x="435673" y="1237297"/>
            <a:chExt cx="6672580" cy="8611235"/>
          </a:xfrm>
        </p:grpSpPr>
        <p:sp>
          <p:nvSpPr>
            <p:cNvPr id="3" name="object 3"/>
            <p:cNvSpPr/>
            <p:nvPr/>
          </p:nvSpPr>
          <p:spPr>
            <a:xfrm>
              <a:off x="440436" y="1242060"/>
              <a:ext cx="6663055" cy="8601710"/>
            </a:xfrm>
            <a:custGeom>
              <a:avLst/>
              <a:gdLst/>
              <a:ahLst/>
              <a:cxnLst/>
              <a:rect l="l" t="t" r="r" b="b"/>
              <a:pathLst>
                <a:path w="6663055" h="8601710">
                  <a:moveTo>
                    <a:pt x="0" y="8601202"/>
                  </a:moveTo>
                  <a:lnTo>
                    <a:pt x="6662801" y="8601202"/>
                  </a:lnTo>
                  <a:lnTo>
                    <a:pt x="6662801" y="0"/>
                  </a:lnTo>
                  <a:lnTo>
                    <a:pt x="0" y="0"/>
                  </a:lnTo>
                  <a:lnTo>
                    <a:pt x="0" y="8601202"/>
                  </a:lnTo>
                  <a:close/>
                </a:path>
              </a:pathLst>
            </a:custGeom>
            <a:ln w="9144">
              <a:solidFill>
                <a:srgbClr val="201E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9520" y="1459992"/>
              <a:ext cx="3227831" cy="348691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80187" y="543814"/>
            <a:ext cx="6737984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Applied</a:t>
            </a:r>
            <a:r>
              <a:rPr sz="1200" spc="-5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and</a:t>
            </a:r>
            <a:r>
              <a:rPr sz="1200" spc="-2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01E1F"/>
                </a:solidFill>
                <a:latin typeface="Cambria"/>
                <a:cs typeface="Cambria"/>
              </a:rPr>
              <a:t>Action</a:t>
            </a:r>
            <a:r>
              <a:rPr sz="1200" spc="-6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Learning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400" b="1" baseline="1736" dirty="0">
                <a:solidFill>
                  <a:srgbClr val="201E1F"/>
                </a:solidFill>
                <a:latin typeface="Arial"/>
                <a:cs typeface="Arial"/>
              </a:rPr>
              <a:t>*</a:t>
            </a:r>
            <a:r>
              <a:rPr sz="2400" b="1" spc="195" baseline="1736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01E1F"/>
                </a:solidFill>
                <a:latin typeface="Arial"/>
                <a:cs typeface="Arial"/>
              </a:rPr>
              <a:t>Implementation</a:t>
            </a:r>
            <a:r>
              <a:rPr sz="1600" b="1" spc="-114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01E1F"/>
                </a:solidFill>
                <a:latin typeface="Arial"/>
                <a:cs typeface="Arial"/>
              </a:rPr>
              <a:t>Phase:</a:t>
            </a:r>
            <a:r>
              <a:rPr sz="1600" b="1" spc="-8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01E1F"/>
                </a:solidFill>
                <a:latin typeface="Arial"/>
                <a:cs typeface="Arial"/>
              </a:rPr>
              <a:t>Final</a:t>
            </a:r>
            <a:r>
              <a:rPr sz="1600" b="1" spc="-45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01E1F"/>
                </a:solidFill>
                <a:latin typeface="Arial"/>
                <a:cs typeface="Arial"/>
              </a:rPr>
              <a:t>Output</a:t>
            </a:r>
            <a:r>
              <a:rPr sz="1600" b="1" spc="-10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01E1F"/>
                </a:solidFill>
                <a:latin typeface="Arial"/>
                <a:cs typeface="Arial"/>
              </a:rPr>
              <a:t>(no</a:t>
            </a:r>
            <a:r>
              <a:rPr sz="1600" b="1" spc="-10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01E1F"/>
                </a:solidFill>
                <a:latin typeface="Arial"/>
                <a:cs typeface="Arial"/>
              </a:rPr>
              <a:t>error)</a:t>
            </a:r>
            <a:endParaRPr sz="160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  <a:spcBef>
                <a:spcPts val="810"/>
              </a:spcBef>
            </a:pPr>
            <a:r>
              <a:rPr sz="1200" dirty="0">
                <a:latin typeface="Times New Roman"/>
                <a:cs typeface="Times New Roman"/>
              </a:rPr>
              <a:t>Go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MetaMask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wallet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choose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testnet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sepolia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testnet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491" y="4994275"/>
            <a:ext cx="3671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sepolia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faucet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cloud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faucet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sepolia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testnet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491" y="7154036"/>
            <a:ext cx="376427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latin typeface="Times New Roman"/>
                <a:cs typeface="Times New Roman"/>
              </a:rPr>
              <a:t>Now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copy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wallet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address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click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on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receive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sepolia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9391" y="1514856"/>
            <a:ext cx="6550659" cy="8044180"/>
            <a:chOff x="469391" y="1514856"/>
            <a:chExt cx="6550659" cy="80441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303" y="1514856"/>
              <a:ext cx="3151632" cy="34229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91" y="5205984"/>
              <a:ext cx="6550152" cy="196900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91" y="7589520"/>
              <a:ext cx="6550152" cy="1969008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580" y="5487924"/>
            <a:ext cx="6663055" cy="1038554"/>
          </a:xfrm>
          <a:prstGeom prst="rect">
            <a:avLst/>
          </a:prstGeom>
          <a:ln w="9144">
            <a:solidFill>
              <a:srgbClr val="201E1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6995" marR="360045" indent="-3175">
              <a:lnSpc>
                <a:spcPts val="1320"/>
              </a:lnSpc>
              <a:spcBef>
                <a:spcPts val="670"/>
              </a:spcBef>
              <a:buSzPct val="91666"/>
              <a:buAutoNum type="arabicPeriod"/>
              <a:tabLst>
                <a:tab pos="86995" algn="l"/>
                <a:tab pos="201930" algn="l"/>
              </a:tabLst>
            </a:pPr>
            <a:r>
              <a:rPr sz="1200" spc="-2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SepoliaETH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successfully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transferred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sender’s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MetaMask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wallet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recipient’s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wallet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Sepolia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Network.</a:t>
            </a:r>
            <a:endParaRPr sz="1400" dirty="0">
              <a:latin typeface="Times New Roman"/>
              <a:cs typeface="Times New Roman"/>
            </a:endParaRPr>
          </a:p>
          <a:p>
            <a:pPr marL="201930" indent="-118110">
              <a:lnSpc>
                <a:spcPts val="1200"/>
              </a:lnSpc>
              <a:buSzPct val="91666"/>
              <a:buAutoNum type="arabicPeriod"/>
              <a:tabLst>
                <a:tab pos="201930" algn="l"/>
              </a:tabLst>
            </a:pPr>
            <a:r>
              <a:rPr sz="1400" spc="-10" dirty="0">
                <a:latin typeface="Times New Roman"/>
                <a:cs typeface="Times New Roman"/>
              </a:rPr>
              <a:t>MetaMask</a:t>
            </a:r>
            <a:r>
              <a:rPr sz="1400" spc="-1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displayed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transaction</a:t>
            </a:r>
            <a:r>
              <a:rPr sz="1400" spc="-20" dirty="0">
                <a:latin typeface="Times New Roman"/>
                <a:cs typeface="Times New Roman"/>
              </a:rPr>
              <a:t> details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including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amount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sent,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recipient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address,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gas</a:t>
            </a:r>
            <a:r>
              <a:rPr lang="en-IN"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before</a:t>
            </a: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confirmation.</a:t>
            </a:r>
            <a:endParaRPr lang="en-IN" sz="1400" spc="-10" dirty="0">
              <a:latin typeface="Times New Roman"/>
              <a:cs typeface="Times New Roman"/>
            </a:endParaRPr>
          </a:p>
          <a:p>
            <a:pPr marL="201930" indent="-118110">
              <a:lnSpc>
                <a:spcPts val="1200"/>
              </a:lnSpc>
              <a:buSzPct val="91666"/>
              <a:buAutoNum type="arabicPeriod"/>
              <a:tabLst>
                <a:tab pos="201930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transaction</a:t>
            </a:r>
            <a:r>
              <a:rPr sz="1400" spc="-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verified</a:t>
            </a:r>
            <a:r>
              <a:rPr sz="1400" dirty="0">
                <a:latin typeface="Times New Roman"/>
                <a:cs typeface="Times New Roman"/>
              </a:rPr>
              <a:t> on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Sepolia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Etherscan,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showing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status,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block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number,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timestamp,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spc="-10" dirty="0">
                <a:latin typeface="Times New Roman"/>
                <a:cs typeface="Times New Roman"/>
              </a:rPr>
              <a:t>confirmation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count.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85160" y="7272528"/>
            <a:ext cx="1277620" cy="143510"/>
            <a:chOff x="3185160" y="7272528"/>
            <a:chExt cx="1277620" cy="143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5160" y="7272528"/>
              <a:ext cx="374903" cy="1432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400" y="7272528"/>
              <a:ext cx="350520" cy="1432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3256" y="7275576"/>
              <a:ext cx="128015" cy="1402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05656" y="7275830"/>
              <a:ext cx="103505" cy="139700"/>
            </a:xfrm>
            <a:custGeom>
              <a:avLst/>
              <a:gdLst/>
              <a:ahLst/>
              <a:cxnLst/>
              <a:rect l="l" t="t" r="r" b="b"/>
              <a:pathLst>
                <a:path w="103504" h="139700">
                  <a:moveTo>
                    <a:pt x="103505" y="115570"/>
                  </a:moveTo>
                  <a:lnTo>
                    <a:pt x="27559" y="115570"/>
                  </a:lnTo>
                  <a:lnTo>
                    <a:pt x="27559" y="77470"/>
                  </a:lnTo>
                  <a:lnTo>
                    <a:pt x="95885" y="77470"/>
                  </a:lnTo>
                  <a:lnTo>
                    <a:pt x="95885" y="54610"/>
                  </a:lnTo>
                  <a:lnTo>
                    <a:pt x="27559" y="54610"/>
                  </a:lnTo>
                  <a:lnTo>
                    <a:pt x="27559" y="24130"/>
                  </a:lnTo>
                  <a:lnTo>
                    <a:pt x="101092" y="24130"/>
                  </a:lnTo>
                  <a:lnTo>
                    <a:pt x="101092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54610"/>
                  </a:lnTo>
                  <a:lnTo>
                    <a:pt x="0" y="77470"/>
                  </a:lnTo>
                  <a:lnTo>
                    <a:pt x="0" y="115570"/>
                  </a:lnTo>
                  <a:lnTo>
                    <a:pt x="0" y="139700"/>
                  </a:lnTo>
                  <a:lnTo>
                    <a:pt x="103505" y="139700"/>
                  </a:lnTo>
                  <a:lnTo>
                    <a:pt x="103505" y="115570"/>
                  </a:lnTo>
                  <a:close/>
                </a:path>
              </a:pathLst>
            </a:custGeom>
            <a:solidFill>
              <a:srgbClr val="20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0624" y="7275576"/>
              <a:ext cx="231648" cy="14020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828288" y="9845040"/>
            <a:ext cx="374650" cy="104139"/>
            <a:chOff x="3828288" y="9845040"/>
            <a:chExt cx="374650" cy="104139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8288" y="9845040"/>
              <a:ext cx="304800" cy="1036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72712" y="9872472"/>
              <a:ext cx="30480" cy="76200"/>
            </a:xfrm>
            <a:custGeom>
              <a:avLst/>
              <a:gdLst/>
              <a:ahLst/>
              <a:cxnLst/>
              <a:rect l="l" t="t" r="r" b="b"/>
              <a:pathLst>
                <a:path w="30479" h="76200">
                  <a:moveTo>
                    <a:pt x="20574" y="56019"/>
                  </a:moveTo>
                  <a:lnTo>
                    <a:pt x="3302" y="56019"/>
                  </a:lnTo>
                  <a:lnTo>
                    <a:pt x="0" y="75666"/>
                  </a:lnTo>
                  <a:lnTo>
                    <a:pt x="16256" y="75666"/>
                  </a:lnTo>
                  <a:lnTo>
                    <a:pt x="20574" y="56019"/>
                  </a:lnTo>
                  <a:close/>
                </a:path>
                <a:path w="30479" h="76200">
                  <a:moveTo>
                    <a:pt x="30099" y="0"/>
                  </a:moveTo>
                  <a:lnTo>
                    <a:pt x="13208" y="0"/>
                  </a:lnTo>
                  <a:lnTo>
                    <a:pt x="9652" y="19989"/>
                  </a:lnTo>
                  <a:lnTo>
                    <a:pt x="26035" y="19989"/>
                  </a:lnTo>
                  <a:lnTo>
                    <a:pt x="30099" y="0"/>
                  </a:lnTo>
                  <a:close/>
                </a:path>
              </a:pathLst>
            </a:custGeom>
            <a:solidFill>
              <a:srgbClr val="20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4131" y="546354"/>
            <a:ext cx="45967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b="1" baseline="-6944" dirty="0">
                <a:solidFill>
                  <a:srgbClr val="201E1F"/>
                </a:solidFill>
                <a:latin typeface="Arial"/>
                <a:cs typeface="Arial"/>
              </a:rPr>
              <a:t>*</a:t>
            </a:r>
            <a:r>
              <a:rPr sz="2400" b="1" spc="150" baseline="-6944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201E1F"/>
                </a:solidFill>
                <a:latin typeface="Arial"/>
                <a:cs typeface="Arial"/>
              </a:rPr>
              <a:t>Implementation</a:t>
            </a:r>
            <a:r>
              <a:rPr sz="1600" b="1" spc="-15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01E1F"/>
                </a:solidFill>
                <a:latin typeface="Arial"/>
                <a:cs typeface="Arial"/>
              </a:rPr>
              <a:t>Phase:</a:t>
            </a:r>
            <a:r>
              <a:rPr sz="1600" b="1" spc="-6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01E1F"/>
                </a:solidFill>
                <a:latin typeface="Arial"/>
                <a:cs typeface="Arial"/>
              </a:rPr>
              <a:t>Final</a:t>
            </a:r>
            <a:r>
              <a:rPr sz="1600" b="1" spc="-75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01E1F"/>
                </a:solidFill>
                <a:latin typeface="Arial"/>
                <a:cs typeface="Arial"/>
              </a:rPr>
              <a:t>Output</a:t>
            </a:r>
            <a:r>
              <a:rPr sz="1600" b="1" spc="-12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01E1F"/>
                </a:solidFill>
                <a:latin typeface="Arial"/>
                <a:cs typeface="Arial"/>
              </a:rPr>
              <a:t>(no</a:t>
            </a:r>
            <a:r>
              <a:rPr sz="1600" b="1" spc="-8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01E1F"/>
                </a:solidFill>
                <a:latin typeface="Arial"/>
                <a:cs typeface="Arial"/>
              </a:rPr>
              <a:t>error)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28082" y="543814"/>
            <a:ext cx="1859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Applied</a:t>
            </a:r>
            <a:r>
              <a:rPr sz="1200" spc="-4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and</a:t>
            </a:r>
            <a:r>
              <a:rPr sz="1200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Action</a:t>
            </a:r>
            <a:r>
              <a:rPr sz="1200" spc="-35" dirty="0">
                <a:solidFill>
                  <a:srgbClr val="20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01E1F"/>
                </a:solidFill>
                <a:latin typeface="Cambria"/>
                <a:cs typeface="Cambria"/>
              </a:rPr>
              <a:t>Learning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6575" y="5084445"/>
            <a:ext cx="1480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10" dirty="0">
                <a:latin typeface="Times New Roman"/>
                <a:cs typeface="Times New Roman"/>
              </a:rPr>
              <a:t> Observations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37134" y="7496048"/>
          <a:ext cx="6664958" cy="176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060">
                <a:tc>
                  <a:txBody>
                    <a:bodyPr/>
                    <a:lstStyle/>
                    <a:p>
                      <a:pPr marL="7988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50" b="1" spc="-10" dirty="0">
                          <a:solidFill>
                            <a:srgbClr val="201E1F"/>
                          </a:solidFill>
                          <a:latin typeface="Arial"/>
                          <a:cs typeface="Arial"/>
                        </a:rPr>
                        <a:t>Rubrics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50" spc="-1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Concept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50" spc="-2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spc="-1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Planning</a:t>
                      </a:r>
                      <a:r>
                        <a:rPr sz="1050" spc="-2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3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Execution/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4351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Practical</a:t>
                      </a:r>
                      <a:r>
                        <a:rPr sz="1050" spc="-1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Simulation/</a:t>
                      </a:r>
                      <a:r>
                        <a:rPr sz="1050" spc="-1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Programming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spc="-2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050" spc="-5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2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Interpretation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sz="1050" spc="-5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50" spc="-2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Applied</a:t>
                      </a:r>
                      <a:r>
                        <a:rPr sz="1050" spc="-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2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Action</a:t>
                      </a:r>
                      <a:r>
                        <a:rPr sz="1050" spc="-3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Learning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0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Viva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5" dirty="0">
                          <a:solidFill>
                            <a:srgbClr val="20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b="1" spc="-10" dirty="0">
                          <a:solidFill>
                            <a:srgbClr val="201E1F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b="1" spc="-25" dirty="0">
                          <a:solidFill>
                            <a:srgbClr val="201E1F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01E1F"/>
                      </a:solidFill>
                      <a:prstDash val="solid"/>
                    </a:lnL>
                    <a:lnR w="12700">
                      <a:solidFill>
                        <a:srgbClr val="201E1F"/>
                      </a:solidFill>
                      <a:prstDash val="solid"/>
                    </a:lnR>
                    <a:lnT w="12700">
                      <a:solidFill>
                        <a:srgbClr val="201E1F"/>
                      </a:solidFill>
                      <a:prstDash val="solid"/>
                    </a:lnT>
                    <a:lnB w="12700">
                      <a:solidFill>
                        <a:srgbClr val="20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3824985" y="9536379"/>
            <a:ext cx="1811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0" dirty="0">
                <a:solidFill>
                  <a:srgbClr val="201E1F"/>
                </a:solidFill>
                <a:latin typeface="Arial"/>
                <a:cs typeface="Arial"/>
              </a:rPr>
              <a:t>Signature</a:t>
            </a:r>
            <a:r>
              <a:rPr sz="1200" b="1" i="1" spc="-65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01E1F"/>
                </a:solidFill>
                <a:latin typeface="Arial"/>
                <a:cs typeface="Arial"/>
              </a:rPr>
              <a:t>of</a:t>
            </a:r>
            <a:r>
              <a:rPr sz="1200" b="1" i="1" spc="-14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201E1F"/>
                </a:solidFill>
                <a:latin typeface="Arial"/>
                <a:cs typeface="Arial"/>
              </a:rPr>
              <a:t>the</a:t>
            </a:r>
            <a:r>
              <a:rPr sz="1200" b="1" i="1" spc="-45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01E1F"/>
                </a:solidFill>
                <a:latin typeface="Arial"/>
                <a:cs typeface="Arial"/>
              </a:rPr>
              <a:t>Student: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767" y="9993884"/>
            <a:ext cx="17221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i="1" spc="-10" dirty="0">
                <a:solidFill>
                  <a:srgbClr val="201E1F"/>
                </a:solidFill>
                <a:latin typeface="Arial"/>
                <a:cs typeface="Arial"/>
              </a:rPr>
              <a:t>Signature</a:t>
            </a:r>
            <a:r>
              <a:rPr sz="1150" b="1" i="1" spc="-45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150" b="1" i="1" dirty="0">
                <a:solidFill>
                  <a:srgbClr val="201E1F"/>
                </a:solidFill>
                <a:latin typeface="Arial"/>
                <a:cs typeface="Arial"/>
              </a:rPr>
              <a:t>of</a:t>
            </a:r>
            <a:r>
              <a:rPr sz="1150" b="1" i="1" spc="-35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150" b="1" i="1" dirty="0">
                <a:solidFill>
                  <a:srgbClr val="201E1F"/>
                </a:solidFill>
                <a:latin typeface="Arial"/>
                <a:cs typeface="Arial"/>
              </a:rPr>
              <a:t>the</a:t>
            </a:r>
            <a:r>
              <a:rPr sz="1150" b="1" i="1" spc="-50" dirty="0">
                <a:solidFill>
                  <a:srgbClr val="201E1F"/>
                </a:solidFill>
                <a:latin typeface="Arial"/>
                <a:cs typeface="Arial"/>
              </a:rPr>
              <a:t> </a:t>
            </a:r>
            <a:r>
              <a:rPr sz="1150" b="1" i="1" spc="-10" dirty="0">
                <a:solidFill>
                  <a:srgbClr val="201E1F"/>
                </a:solidFill>
                <a:latin typeface="Arial"/>
                <a:cs typeface="Arial"/>
              </a:rPr>
              <a:t>Faculty: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85744" y="7559040"/>
            <a:ext cx="213360" cy="10972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57015" y="7559040"/>
            <a:ext cx="310896" cy="10972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30040" y="7555992"/>
            <a:ext cx="966215" cy="11582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24144" y="7559040"/>
            <a:ext cx="548639" cy="10972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40436" y="943356"/>
            <a:ext cx="6659880" cy="3990340"/>
          </a:xfrm>
          <a:prstGeom prst="rect">
            <a:avLst/>
          </a:prstGeom>
          <a:ln w="9144">
            <a:solidFill>
              <a:srgbClr val="201E1F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button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paste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another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wallet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sepolia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testnet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25240" y="10079736"/>
            <a:ext cx="524510" cy="131445"/>
            <a:chOff x="3825240" y="10079736"/>
            <a:chExt cx="524510" cy="131445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25240" y="10079736"/>
              <a:ext cx="307848" cy="1310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75760" y="10079736"/>
              <a:ext cx="173736" cy="103631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4395216" y="10107168"/>
            <a:ext cx="30480" cy="73660"/>
          </a:xfrm>
          <a:custGeom>
            <a:avLst/>
            <a:gdLst/>
            <a:ahLst/>
            <a:cxnLst/>
            <a:rect l="l" t="t" r="r" b="b"/>
            <a:pathLst>
              <a:path w="30479" h="73659">
                <a:moveTo>
                  <a:pt x="19812" y="53060"/>
                </a:moveTo>
                <a:lnTo>
                  <a:pt x="2921" y="53060"/>
                </a:lnTo>
                <a:lnTo>
                  <a:pt x="0" y="73101"/>
                </a:lnTo>
                <a:lnTo>
                  <a:pt x="16637" y="73101"/>
                </a:lnTo>
                <a:lnTo>
                  <a:pt x="19812" y="53060"/>
                </a:lnTo>
                <a:close/>
              </a:path>
              <a:path w="30479" h="73659">
                <a:moveTo>
                  <a:pt x="30099" y="0"/>
                </a:moveTo>
                <a:lnTo>
                  <a:pt x="12446" y="0"/>
                </a:lnTo>
                <a:lnTo>
                  <a:pt x="9652" y="18275"/>
                </a:lnTo>
                <a:lnTo>
                  <a:pt x="26797" y="18275"/>
                </a:lnTo>
                <a:lnTo>
                  <a:pt x="30099" y="0"/>
                </a:lnTo>
                <a:close/>
              </a:path>
            </a:pathLst>
          </a:custGeom>
          <a:solidFill>
            <a:srgbClr val="201E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6242303" y="9951720"/>
            <a:ext cx="920115" cy="195580"/>
            <a:chOff x="6242303" y="9951720"/>
            <a:chExt cx="920115" cy="19558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42303" y="9951720"/>
              <a:ext cx="588264" cy="19507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839712" y="10098024"/>
              <a:ext cx="322580" cy="18415"/>
            </a:xfrm>
            <a:custGeom>
              <a:avLst/>
              <a:gdLst/>
              <a:ahLst/>
              <a:cxnLst/>
              <a:rect l="l" t="t" r="r" b="b"/>
              <a:pathLst>
                <a:path w="322579" h="18415">
                  <a:moveTo>
                    <a:pt x="14008" y="0"/>
                  </a:moveTo>
                  <a:lnTo>
                    <a:pt x="0" y="0"/>
                  </a:lnTo>
                  <a:lnTo>
                    <a:pt x="0" y="18237"/>
                  </a:lnTo>
                  <a:lnTo>
                    <a:pt x="14008" y="18237"/>
                  </a:lnTo>
                  <a:lnTo>
                    <a:pt x="14008" y="0"/>
                  </a:lnTo>
                  <a:close/>
                </a:path>
                <a:path w="322579" h="18415">
                  <a:moveTo>
                    <a:pt x="45224" y="0"/>
                  </a:moveTo>
                  <a:lnTo>
                    <a:pt x="30861" y="0"/>
                  </a:lnTo>
                  <a:lnTo>
                    <a:pt x="30861" y="18237"/>
                  </a:lnTo>
                  <a:lnTo>
                    <a:pt x="45224" y="18237"/>
                  </a:lnTo>
                  <a:lnTo>
                    <a:pt x="45224" y="0"/>
                  </a:lnTo>
                  <a:close/>
                </a:path>
                <a:path w="322579" h="18415">
                  <a:moveTo>
                    <a:pt x="71221" y="0"/>
                  </a:moveTo>
                  <a:lnTo>
                    <a:pt x="56134" y="0"/>
                  </a:lnTo>
                  <a:lnTo>
                    <a:pt x="56134" y="18237"/>
                  </a:lnTo>
                  <a:lnTo>
                    <a:pt x="71221" y="18237"/>
                  </a:lnTo>
                  <a:lnTo>
                    <a:pt x="71221" y="0"/>
                  </a:lnTo>
                  <a:close/>
                </a:path>
                <a:path w="322579" h="18415">
                  <a:moveTo>
                    <a:pt x="97129" y="0"/>
                  </a:moveTo>
                  <a:lnTo>
                    <a:pt x="82042" y="0"/>
                  </a:lnTo>
                  <a:lnTo>
                    <a:pt x="82042" y="18237"/>
                  </a:lnTo>
                  <a:lnTo>
                    <a:pt x="97129" y="18237"/>
                  </a:lnTo>
                  <a:lnTo>
                    <a:pt x="97129" y="0"/>
                  </a:lnTo>
                  <a:close/>
                </a:path>
                <a:path w="322579" h="18415">
                  <a:moveTo>
                    <a:pt x="120777" y="0"/>
                  </a:moveTo>
                  <a:lnTo>
                    <a:pt x="106045" y="0"/>
                  </a:lnTo>
                  <a:lnTo>
                    <a:pt x="106045" y="18237"/>
                  </a:lnTo>
                  <a:lnTo>
                    <a:pt x="120777" y="18237"/>
                  </a:lnTo>
                  <a:lnTo>
                    <a:pt x="120777" y="0"/>
                  </a:lnTo>
                  <a:close/>
                </a:path>
                <a:path w="322579" h="18415">
                  <a:moveTo>
                    <a:pt x="144881" y="0"/>
                  </a:moveTo>
                  <a:lnTo>
                    <a:pt x="129794" y="0"/>
                  </a:lnTo>
                  <a:lnTo>
                    <a:pt x="129794" y="18237"/>
                  </a:lnTo>
                  <a:lnTo>
                    <a:pt x="144881" y="18237"/>
                  </a:lnTo>
                  <a:lnTo>
                    <a:pt x="144881" y="0"/>
                  </a:lnTo>
                  <a:close/>
                </a:path>
                <a:path w="322579" h="18415">
                  <a:moveTo>
                    <a:pt x="166497" y="0"/>
                  </a:moveTo>
                  <a:lnTo>
                    <a:pt x="151765" y="0"/>
                  </a:lnTo>
                  <a:lnTo>
                    <a:pt x="151765" y="18237"/>
                  </a:lnTo>
                  <a:lnTo>
                    <a:pt x="166497" y="18237"/>
                  </a:lnTo>
                  <a:lnTo>
                    <a:pt x="166497" y="0"/>
                  </a:lnTo>
                  <a:close/>
                </a:path>
                <a:path w="322579" h="18415">
                  <a:moveTo>
                    <a:pt x="192316" y="0"/>
                  </a:moveTo>
                  <a:lnTo>
                    <a:pt x="178308" y="0"/>
                  </a:lnTo>
                  <a:lnTo>
                    <a:pt x="178308" y="18237"/>
                  </a:lnTo>
                  <a:lnTo>
                    <a:pt x="192316" y="18237"/>
                  </a:lnTo>
                  <a:lnTo>
                    <a:pt x="192316" y="0"/>
                  </a:lnTo>
                  <a:close/>
                </a:path>
                <a:path w="322579" h="18415">
                  <a:moveTo>
                    <a:pt x="223558" y="0"/>
                  </a:moveTo>
                  <a:lnTo>
                    <a:pt x="209550" y="0"/>
                  </a:lnTo>
                  <a:lnTo>
                    <a:pt x="209550" y="18237"/>
                  </a:lnTo>
                  <a:lnTo>
                    <a:pt x="223558" y="18237"/>
                  </a:lnTo>
                  <a:lnTo>
                    <a:pt x="223558" y="0"/>
                  </a:lnTo>
                  <a:close/>
                </a:path>
                <a:path w="322579" h="18415">
                  <a:moveTo>
                    <a:pt x="249428" y="0"/>
                  </a:moveTo>
                  <a:lnTo>
                    <a:pt x="234696" y="0"/>
                  </a:lnTo>
                  <a:lnTo>
                    <a:pt x="234696" y="18237"/>
                  </a:lnTo>
                  <a:lnTo>
                    <a:pt x="249428" y="18237"/>
                  </a:lnTo>
                  <a:lnTo>
                    <a:pt x="249428" y="0"/>
                  </a:lnTo>
                  <a:close/>
                </a:path>
                <a:path w="322579" h="18415">
                  <a:moveTo>
                    <a:pt x="275336" y="0"/>
                  </a:moveTo>
                  <a:lnTo>
                    <a:pt x="260604" y="0"/>
                  </a:lnTo>
                  <a:lnTo>
                    <a:pt x="260604" y="18237"/>
                  </a:lnTo>
                  <a:lnTo>
                    <a:pt x="275336" y="18237"/>
                  </a:lnTo>
                  <a:lnTo>
                    <a:pt x="275336" y="0"/>
                  </a:lnTo>
                  <a:close/>
                </a:path>
                <a:path w="322579" h="18415">
                  <a:moveTo>
                    <a:pt x="299440" y="0"/>
                  </a:moveTo>
                  <a:lnTo>
                    <a:pt x="284353" y="0"/>
                  </a:lnTo>
                  <a:lnTo>
                    <a:pt x="284353" y="18237"/>
                  </a:lnTo>
                  <a:lnTo>
                    <a:pt x="299440" y="18237"/>
                  </a:lnTo>
                  <a:lnTo>
                    <a:pt x="299440" y="0"/>
                  </a:lnTo>
                  <a:close/>
                </a:path>
                <a:path w="322579" h="18415">
                  <a:moveTo>
                    <a:pt x="322491" y="0"/>
                  </a:moveTo>
                  <a:lnTo>
                    <a:pt x="308483" y="0"/>
                  </a:lnTo>
                  <a:lnTo>
                    <a:pt x="308483" y="18237"/>
                  </a:lnTo>
                  <a:lnTo>
                    <a:pt x="322491" y="18237"/>
                  </a:lnTo>
                  <a:lnTo>
                    <a:pt x="322491" y="0"/>
                  </a:lnTo>
                  <a:close/>
                </a:path>
              </a:pathLst>
            </a:custGeom>
            <a:solidFill>
              <a:srgbClr val="20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41959" y="1136904"/>
            <a:ext cx="6647815" cy="3761740"/>
            <a:chOff x="441959" y="1136904"/>
            <a:chExt cx="6647815" cy="3761740"/>
          </a:xfrm>
        </p:grpSpPr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98136" y="1161288"/>
              <a:ext cx="2191512" cy="373684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17648" y="1136904"/>
              <a:ext cx="2380488" cy="37612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1959" y="1170432"/>
              <a:ext cx="2075688" cy="3727704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65"/>
              </a:lnSpc>
            </a:pPr>
            <a:r>
              <a:rPr sz="2400" i="0" baseline="-10416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40" dirty="0"/>
              <a:t> </a:t>
            </a:r>
            <a:r>
              <a:rPr sz="800" spc="-10" dirty="0"/>
              <a:t>applicable</a:t>
            </a:r>
            <a:r>
              <a:rPr sz="800" spc="50" dirty="0"/>
              <a:t> </a:t>
            </a:r>
            <a:r>
              <a:rPr sz="800" spc="-10" dirty="0"/>
              <a:t>according</a:t>
            </a:r>
            <a:r>
              <a:rPr sz="800" spc="50" dirty="0"/>
              <a:t> </a:t>
            </a:r>
            <a:r>
              <a:rPr sz="800" dirty="0"/>
              <a:t>to</a:t>
            </a:r>
            <a:r>
              <a:rPr sz="800" spc="-40" dirty="0"/>
              <a:t> </a:t>
            </a:r>
            <a:r>
              <a:rPr sz="800" dirty="0"/>
              <a:t>the</a:t>
            </a:r>
            <a:r>
              <a:rPr sz="800" spc="-4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sheets</a:t>
            </a:r>
            <a:r>
              <a:rPr spc="-25" dirty="0"/>
              <a:t> </a:t>
            </a:r>
            <a:r>
              <a:rPr dirty="0"/>
              <a:t>per</a:t>
            </a:r>
            <a:r>
              <a:rPr spc="-10" dirty="0"/>
              <a:t> experiment</a:t>
            </a:r>
            <a:r>
              <a:rPr spc="-5" dirty="0"/>
              <a:t> </a:t>
            </a:r>
            <a:r>
              <a:rPr spc="-20" dirty="0"/>
              <a:t>(10-</a:t>
            </a:r>
            <a:r>
              <a:rPr dirty="0"/>
              <a:t>20)</a:t>
            </a:r>
            <a:r>
              <a:rPr spc="1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343</Words>
  <Application>Microsoft Office PowerPoint</Application>
  <PresentationFormat>Custom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Subash Pradhan</dc:creator>
  <cp:lastModifiedBy>Subash Pradhan</cp:lastModifiedBy>
  <cp:revision>1</cp:revision>
  <dcterms:created xsi:type="dcterms:W3CDTF">2025-10-31T17:17:48Z</dcterms:created>
  <dcterms:modified xsi:type="dcterms:W3CDTF">2025-10-31T18:52:20Z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2025-10-31T00:00:00Z</vt:filetime>
  </property>
  <property fmtid="{D5CDD505-2E9C-101B-9397-08002B2CF9AE}" pid="5" name="Producer">
    <vt:lpwstr>www.ilovepdf.com</vt:lpwstr>
  </property>
</Properties>
</file>