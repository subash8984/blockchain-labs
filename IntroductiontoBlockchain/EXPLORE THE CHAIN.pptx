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2261" y="-9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30" dirty="0"/>
              <a:t> </a:t>
            </a:r>
            <a:r>
              <a:rPr sz="800" dirty="0"/>
              <a:t>applicable</a:t>
            </a:r>
            <a:r>
              <a:rPr sz="800" spc="5" dirty="0"/>
              <a:t> </a:t>
            </a:r>
            <a:r>
              <a:rPr sz="800" spc="-10" dirty="0"/>
              <a:t>according</a:t>
            </a:r>
            <a:r>
              <a:rPr sz="800" spc="-25" dirty="0"/>
              <a:t> </a:t>
            </a:r>
            <a:r>
              <a:rPr sz="800" dirty="0"/>
              <a:t>to the</a:t>
            </a:r>
            <a:r>
              <a:rPr sz="800" spc="-25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25" dirty="0"/>
              <a:t> </a:t>
            </a:r>
            <a:r>
              <a:rPr dirty="0"/>
              <a:t>sheets 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1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20" dirty="0"/>
              <a:t>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30" dirty="0"/>
              <a:t> </a:t>
            </a:r>
            <a:r>
              <a:rPr sz="800" dirty="0"/>
              <a:t>applicable</a:t>
            </a:r>
            <a:r>
              <a:rPr sz="800" spc="5" dirty="0"/>
              <a:t> </a:t>
            </a:r>
            <a:r>
              <a:rPr sz="800" spc="-10" dirty="0"/>
              <a:t>according</a:t>
            </a:r>
            <a:r>
              <a:rPr sz="800" spc="-25" dirty="0"/>
              <a:t> </a:t>
            </a:r>
            <a:r>
              <a:rPr sz="800" dirty="0"/>
              <a:t>to the</a:t>
            </a:r>
            <a:r>
              <a:rPr sz="800" spc="-25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25" dirty="0"/>
              <a:t> </a:t>
            </a:r>
            <a:r>
              <a:rPr dirty="0"/>
              <a:t>sheets 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1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20" dirty="0"/>
              <a:t>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30" dirty="0"/>
              <a:t> </a:t>
            </a:r>
            <a:r>
              <a:rPr sz="800" dirty="0"/>
              <a:t>applicable</a:t>
            </a:r>
            <a:r>
              <a:rPr sz="800" spc="5" dirty="0"/>
              <a:t> </a:t>
            </a:r>
            <a:r>
              <a:rPr sz="800" spc="-10" dirty="0"/>
              <a:t>according</a:t>
            </a:r>
            <a:r>
              <a:rPr sz="800" spc="-25" dirty="0"/>
              <a:t> </a:t>
            </a:r>
            <a:r>
              <a:rPr sz="800" dirty="0"/>
              <a:t>to the</a:t>
            </a:r>
            <a:r>
              <a:rPr sz="800" spc="-25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25" dirty="0"/>
              <a:t> </a:t>
            </a:r>
            <a:r>
              <a:rPr dirty="0"/>
              <a:t>sheets 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1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20" dirty="0"/>
              <a:t>used.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30" dirty="0"/>
              <a:t> </a:t>
            </a:r>
            <a:r>
              <a:rPr sz="800" dirty="0"/>
              <a:t>applicable</a:t>
            </a:r>
            <a:r>
              <a:rPr sz="800" spc="5" dirty="0"/>
              <a:t> </a:t>
            </a:r>
            <a:r>
              <a:rPr sz="800" spc="-10" dirty="0"/>
              <a:t>according</a:t>
            </a:r>
            <a:r>
              <a:rPr sz="800" spc="-25" dirty="0"/>
              <a:t> </a:t>
            </a:r>
            <a:r>
              <a:rPr sz="800" dirty="0"/>
              <a:t>to the</a:t>
            </a:r>
            <a:r>
              <a:rPr sz="800" spc="-25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25" dirty="0"/>
              <a:t> </a:t>
            </a:r>
            <a:r>
              <a:rPr dirty="0"/>
              <a:t>sheets 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1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20" dirty="0"/>
              <a:t>used.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30" dirty="0"/>
              <a:t> </a:t>
            </a:r>
            <a:r>
              <a:rPr sz="800" dirty="0"/>
              <a:t>applicable</a:t>
            </a:r>
            <a:r>
              <a:rPr sz="800" spc="5" dirty="0"/>
              <a:t> </a:t>
            </a:r>
            <a:r>
              <a:rPr sz="800" spc="-10" dirty="0"/>
              <a:t>according</a:t>
            </a:r>
            <a:r>
              <a:rPr sz="800" spc="-25" dirty="0"/>
              <a:t> </a:t>
            </a:r>
            <a:r>
              <a:rPr sz="800" dirty="0"/>
              <a:t>to the</a:t>
            </a:r>
            <a:r>
              <a:rPr sz="800" spc="-25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25" dirty="0"/>
              <a:t> </a:t>
            </a:r>
            <a:r>
              <a:rPr dirty="0"/>
              <a:t>sheets 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1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20" dirty="0"/>
              <a:t>used.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2050" y="9953625"/>
            <a:ext cx="587463" cy="19691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840347" y="10101935"/>
            <a:ext cx="323215" cy="18415"/>
          </a:xfrm>
          <a:custGeom>
            <a:avLst/>
            <a:gdLst/>
            <a:ahLst/>
            <a:cxnLst/>
            <a:rect l="l" t="t" r="r" b="b"/>
            <a:pathLst>
              <a:path w="323215" h="18415">
                <a:moveTo>
                  <a:pt x="14020" y="0"/>
                </a:moveTo>
                <a:lnTo>
                  <a:pt x="0" y="0"/>
                </a:lnTo>
                <a:lnTo>
                  <a:pt x="0" y="18364"/>
                </a:lnTo>
                <a:lnTo>
                  <a:pt x="14020" y="18364"/>
                </a:lnTo>
                <a:lnTo>
                  <a:pt x="14020" y="0"/>
                </a:lnTo>
                <a:close/>
              </a:path>
              <a:path w="323215" h="18415">
                <a:moveTo>
                  <a:pt x="45237" y="0"/>
                </a:moveTo>
                <a:lnTo>
                  <a:pt x="30861" y="0"/>
                </a:lnTo>
                <a:lnTo>
                  <a:pt x="30861" y="18364"/>
                </a:lnTo>
                <a:lnTo>
                  <a:pt x="45237" y="18364"/>
                </a:lnTo>
                <a:lnTo>
                  <a:pt x="45237" y="0"/>
                </a:lnTo>
                <a:close/>
              </a:path>
              <a:path w="323215" h="18415">
                <a:moveTo>
                  <a:pt x="71234" y="0"/>
                </a:moveTo>
                <a:lnTo>
                  <a:pt x="56134" y="0"/>
                </a:lnTo>
                <a:lnTo>
                  <a:pt x="56134" y="18364"/>
                </a:lnTo>
                <a:lnTo>
                  <a:pt x="71234" y="18364"/>
                </a:lnTo>
                <a:lnTo>
                  <a:pt x="71234" y="0"/>
                </a:lnTo>
                <a:close/>
              </a:path>
              <a:path w="323215" h="18415">
                <a:moveTo>
                  <a:pt x="97142" y="0"/>
                </a:moveTo>
                <a:lnTo>
                  <a:pt x="82042" y="0"/>
                </a:lnTo>
                <a:lnTo>
                  <a:pt x="82042" y="18364"/>
                </a:lnTo>
                <a:lnTo>
                  <a:pt x="97142" y="18364"/>
                </a:lnTo>
                <a:lnTo>
                  <a:pt x="97142" y="0"/>
                </a:lnTo>
                <a:close/>
              </a:path>
              <a:path w="323215" h="18415">
                <a:moveTo>
                  <a:pt x="120789" y="0"/>
                </a:moveTo>
                <a:lnTo>
                  <a:pt x="106045" y="0"/>
                </a:lnTo>
                <a:lnTo>
                  <a:pt x="106045" y="18364"/>
                </a:lnTo>
                <a:lnTo>
                  <a:pt x="120789" y="18364"/>
                </a:lnTo>
                <a:lnTo>
                  <a:pt x="120789" y="0"/>
                </a:lnTo>
                <a:close/>
              </a:path>
              <a:path w="323215" h="18415">
                <a:moveTo>
                  <a:pt x="144894" y="0"/>
                </a:moveTo>
                <a:lnTo>
                  <a:pt x="129794" y="0"/>
                </a:lnTo>
                <a:lnTo>
                  <a:pt x="129794" y="18364"/>
                </a:lnTo>
                <a:lnTo>
                  <a:pt x="144894" y="18364"/>
                </a:lnTo>
                <a:lnTo>
                  <a:pt x="144894" y="0"/>
                </a:lnTo>
                <a:close/>
              </a:path>
              <a:path w="323215" h="18415">
                <a:moveTo>
                  <a:pt x="166509" y="0"/>
                </a:moveTo>
                <a:lnTo>
                  <a:pt x="151765" y="0"/>
                </a:lnTo>
                <a:lnTo>
                  <a:pt x="151765" y="18364"/>
                </a:lnTo>
                <a:lnTo>
                  <a:pt x="166509" y="18364"/>
                </a:lnTo>
                <a:lnTo>
                  <a:pt x="166509" y="0"/>
                </a:lnTo>
                <a:close/>
              </a:path>
              <a:path w="323215" h="18415">
                <a:moveTo>
                  <a:pt x="192455" y="0"/>
                </a:moveTo>
                <a:lnTo>
                  <a:pt x="178435" y="0"/>
                </a:lnTo>
                <a:lnTo>
                  <a:pt x="178435" y="18364"/>
                </a:lnTo>
                <a:lnTo>
                  <a:pt x="192455" y="18364"/>
                </a:lnTo>
                <a:lnTo>
                  <a:pt x="192455" y="0"/>
                </a:lnTo>
                <a:close/>
              </a:path>
              <a:path w="323215" h="18415">
                <a:moveTo>
                  <a:pt x="223697" y="0"/>
                </a:moveTo>
                <a:lnTo>
                  <a:pt x="209677" y="0"/>
                </a:lnTo>
                <a:lnTo>
                  <a:pt x="209677" y="18364"/>
                </a:lnTo>
                <a:lnTo>
                  <a:pt x="223697" y="18364"/>
                </a:lnTo>
                <a:lnTo>
                  <a:pt x="223697" y="0"/>
                </a:lnTo>
                <a:close/>
              </a:path>
              <a:path w="323215" h="18415">
                <a:moveTo>
                  <a:pt x="249567" y="0"/>
                </a:moveTo>
                <a:lnTo>
                  <a:pt x="234823" y="0"/>
                </a:lnTo>
                <a:lnTo>
                  <a:pt x="234823" y="18364"/>
                </a:lnTo>
                <a:lnTo>
                  <a:pt x="249567" y="18364"/>
                </a:lnTo>
                <a:lnTo>
                  <a:pt x="249567" y="0"/>
                </a:lnTo>
                <a:close/>
              </a:path>
              <a:path w="323215" h="18415">
                <a:moveTo>
                  <a:pt x="275475" y="0"/>
                </a:moveTo>
                <a:lnTo>
                  <a:pt x="260731" y="0"/>
                </a:lnTo>
                <a:lnTo>
                  <a:pt x="260731" y="18364"/>
                </a:lnTo>
                <a:lnTo>
                  <a:pt x="275475" y="18364"/>
                </a:lnTo>
                <a:lnTo>
                  <a:pt x="275475" y="0"/>
                </a:lnTo>
                <a:close/>
              </a:path>
              <a:path w="323215" h="18415">
                <a:moveTo>
                  <a:pt x="299580" y="0"/>
                </a:moveTo>
                <a:lnTo>
                  <a:pt x="284480" y="0"/>
                </a:lnTo>
                <a:lnTo>
                  <a:pt x="284480" y="18364"/>
                </a:lnTo>
                <a:lnTo>
                  <a:pt x="299580" y="18364"/>
                </a:lnTo>
                <a:lnTo>
                  <a:pt x="299580" y="0"/>
                </a:lnTo>
                <a:close/>
              </a:path>
              <a:path w="323215" h="18415">
                <a:moveTo>
                  <a:pt x="322630" y="0"/>
                </a:moveTo>
                <a:lnTo>
                  <a:pt x="308610" y="0"/>
                </a:lnTo>
                <a:lnTo>
                  <a:pt x="308610" y="18364"/>
                </a:lnTo>
                <a:lnTo>
                  <a:pt x="322630" y="18364"/>
                </a:lnTo>
                <a:lnTo>
                  <a:pt x="322630" y="0"/>
                </a:lnTo>
                <a:close/>
              </a:path>
            </a:pathLst>
          </a:custGeom>
          <a:solidFill>
            <a:srgbClr val="211E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42459" y="10153436"/>
            <a:ext cx="216344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30" dirty="0"/>
              <a:t> </a:t>
            </a:r>
            <a:r>
              <a:rPr sz="800" dirty="0"/>
              <a:t>applicable</a:t>
            </a:r>
            <a:r>
              <a:rPr sz="800" spc="5" dirty="0"/>
              <a:t> </a:t>
            </a:r>
            <a:r>
              <a:rPr sz="800" spc="-10" dirty="0"/>
              <a:t>according</a:t>
            </a:r>
            <a:r>
              <a:rPr sz="800" spc="-25" dirty="0"/>
              <a:t> </a:t>
            </a:r>
            <a:r>
              <a:rPr sz="800" dirty="0"/>
              <a:t>to the</a:t>
            </a:r>
            <a:r>
              <a:rPr sz="800" spc="-25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7803" y="10308211"/>
            <a:ext cx="2242820" cy="137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25" dirty="0"/>
              <a:t> </a:t>
            </a:r>
            <a:r>
              <a:rPr dirty="0"/>
              <a:t>sheets 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1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20" dirty="0"/>
              <a:t>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lockchain.com/explorer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jp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1.png"/><Relationship Id="rId1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652" y="2432685"/>
            <a:ext cx="524383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*</a:t>
            </a:r>
            <a:r>
              <a:rPr sz="1600" b="1" spc="114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Coding</a:t>
            </a:r>
            <a:r>
              <a:rPr sz="2400" b="1" spc="-104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Phase:</a:t>
            </a:r>
            <a:r>
              <a:rPr sz="2400" b="1" spc="-104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Pseudo</a:t>
            </a:r>
            <a:r>
              <a:rPr sz="2400" b="1" spc="-112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Code</a:t>
            </a:r>
            <a:r>
              <a:rPr sz="2400" b="1" spc="-120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/</a:t>
            </a:r>
            <a:r>
              <a:rPr sz="2400" b="1" spc="-142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Flow</a:t>
            </a:r>
            <a:r>
              <a:rPr sz="2400" b="1" spc="-89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Chart</a:t>
            </a:r>
            <a:r>
              <a:rPr sz="2400" b="1" spc="-135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/</a:t>
            </a:r>
            <a:r>
              <a:rPr sz="2400" b="1" spc="-75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spc="-15" baseline="3472" dirty="0">
                <a:solidFill>
                  <a:srgbClr val="211E1F"/>
                </a:solidFill>
                <a:latin typeface="Arial"/>
                <a:cs typeface="Arial"/>
              </a:rPr>
              <a:t>Algorithm</a:t>
            </a:r>
            <a:endParaRPr sz="2400" baseline="3472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8708" y="7585075"/>
            <a:ext cx="1652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Softwares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used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582" y="509879"/>
            <a:ext cx="533463" cy="9075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833" y="2252725"/>
            <a:ext cx="1827911" cy="14147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570607" y="1756930"/>
            <a:ext cx="824865" cy="211454"/>
            <a:chOff x="2570607" y="1756930"/>
            <a:chExt cx="824865" cy="211454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0607" y="1756930"/>
              <a:ext cx="297688" cy="2113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0647" y="1799043"/>
              <a:ext cx="116980" cy="1692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31744" y="1756955"/>
              <a:ext cx="95885" cy="166370"/>
            </a:xfrm>
            <a:custGeom>
              <a:avLst/>
              <a:gdLst/>
              <a:ahLst/>
              <a:cxnLst/>
              <a:rect l="l" t="t" r="r" b="b"/>
              <a:pathLst>
                <a:path w="95885" h="166369">
                  <a:moveTo>
                    <a:pt x="31661" y="0"/>
                  </a:moveTo>
                  <a:lnTo>
                    <a:pt x="0" y="0"/>
                  </a:lnTo>
                  <a:lnTo>
                    <a:pt x="0" y="165950"/>
                  </a:lnTo>
                  <a:lnTo>
                    <a:pt x="31661" y="165950"/>
                  </a:lnTo>
                  <a:lnTo>
                    <a:pt x="31661" y="0"/>
                  </a:lnTo>
                  <a:close/>
                </a:path>
                <a:path w="95885" h="166369">
                  <a:moveTo>
                    <a:pt x="95415" y="45008"/>
                  </a:moveTo>
                  <a:lnTo>
                    <a:pt x="63754" y="45008"/>
                  </a:lnTo>
                  <a:lnTo>
                    <a:pt x="63754" y="165950"/>
                  </a:lnTo>
                  <a:lnTo>
                    <a:pt x="95415" y="165950"/>
                  </a:lnTo>
                  <a:lnTo>
                    <a:pt x="95415" y="45008"/>
                  </a:lnTo>
                  <a:close/>
                </a:path>
                <a:path w="95885" h="166369">
                  <a:moveTo>
                    <a:pt x="95415" y="12"/>
                  </a:moveTo>
                  <a:lnTo>
                    <a:pt x="63754" y="12"/>
                  </a:lnTo>
                  <a:lnTo>
                    <a:pt x="63754" y="28790"/>
                  </a:lnTo>
                  <a:lnTo>
                    <a:pt x="95415" y="28790"/>
                  </a:lnTo>
                  <a:lnTo>
                    <a:pt x="95415" y="12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9473" y="1756994"/>
              <a:ext cx="245490" cy="168833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481070" y="1756993"/>
            <a:ext cx="384810" cy="168910"/>
            <a:chOff x="3481070" y="1756993"/>
            <a:chExt cx="384810" cy="16891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1070" y="1799108"/>
              <a:ext cx="111471" cy="1267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6071" y="1799070"/>
              <a:ext cx="108346" cy="1238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48913" y="1756993"/>
              <a:ext cx="116908" cy="168833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933825" y="1756993"/>
            <a:ext cx="696595" cy="168910"/>
            <a:chOff x="3933825" y="1756993"/>
            <a:chExt cx="696595" cy="168910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33825" y="1756993"/>
              <a:ext cx="417195" cy="1688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75150" y="1799108"/>
              <a:ext cx="123101" cy="12671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1708" y="1799070"/>
              <a:ext cx="108701" cy="123836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4725796" y="1756957"/>
            <a:ext cx="934719" cy="214629"/>
            <a:chOff x="4725796" y="1756957"/>
            <a:chExt cx="934719" cy="214629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25796" y="1758378"/>
              <a:ext cx="369315" cy="1674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17464" y="1799070"/>
              <a:ext cx="198691" cy="1238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347081" y="1756968"/>
              <a:ext cx="32384" cy="166370"/>
            </a:xfrm>
            <a:custGeom>
              <a:avLst/>
              <a:gdLst/>
              <a:ahLst/>
              <a:cxnLst/>
              <a:rect l="l" t="t" r="r" b="b"/>
              <a:pathLst>
                <a:path w="32385" h="166369">
                  <a:moveTo>
                    <a:pt x="32385" y="44996"/>
                  </a:moveTo>
                  <a:lnTo>
                    <a:pt x="0" y="44996"/>
                  </a:lnTo>
                  <a:lnTo>
                    <a:pt x="0" y="165938"/>
                  </a:lnTo>
                  <a:lnTo>
                    <a:pt x="32385" y="165938"/>
                  </a:lnTo>
                  <a:lnTo>
                    <a:pt x="32385" y="44996"/>
                  </a:lnTo>
                  <a:close/>
                </a:path>
                <a:path w="32385" h="166369">
                  <a:moveTo>
                    <a:pt x="32385" y="0"/>
                  </a:moveTo>
                  <a:lnTo>
                    <a:pt x="0" y="0"/>
                  </a:lnTo>
                  <a:lnTo>
                    <a:pt x="0" y="28778"/>
                  </a:lnTo>
                  <a:lnTo>
                    <a:pt x="32385" y="28778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0453" y="1799070"/>
              <a:ext cx="109424" cy="12383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43295" y="1799081"/>
              <a:ext cx="116624" cy="17208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19874" y="462406"/>
            <a:ext cx="6697980" cy="1685925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866775">
              <a:lnSpc>
                <a:spcPct val="100000"/>
              </a:lnSpc>
              <a:spcBef>
                <a:spcPts val="830"/>
              </a:spcBef>
            </a:pP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School:</a:t>
            </a:r>
            <a:r>
              <a:rPr sz="1100" spc="22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.............................................................................................................</a:t>
            </a:r>
            <a:r>
              <a:rPr sz="1100" spc="185" dirty="0">
                <a:solidFill>
                  <a:srgbClr val="211E1F"/>
                </a:solidFill>
                <a:latin typeface="Cambria"/>
                <a:cs typeface="Cambria"/>
              </a:rPr>
              <a:t> 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Campus:</a:t>
            </a:r>
            <a:r>
              <a:rPr sz="1100" spc="22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.......................................................</a:t>
            </a:r>
            <a:endParaRPr sz="1100">
              <a:latin typeface="Cambria"/>
              <a:cs typeface="Cambria"/>
            </a:endParaRPr>
          </a:p>
          <a:p>
            <a:pPr marL="866775">
              <a:lnSpc>
                <a:spcPct val="100000"/>
              </a:lnSpc>
              <a:spcBef>
                <a:spcPts val="1245"/>
              </a:spcBef>
            </a:pP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Academic</a:t>
            </a:r>
            <a:r>
              <a:rPr sz="1100" spc="2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Year:</a:t>
            </a:r>
            <a:r>
              <a:rPr sz="1100" spc="2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......................</a:t>
            </a:r>
            <a:r>
              <a:rPr sz="1100" spc="6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Subject</a:t>
            </a:r>
            <a:r>
              <a:rPr sz="1100" spc="4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Name:</a:t>
            </a:r>
            <a:r>
              <a:rPr sz="1100" spc="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...........................................................</a:t>
            </a:r>
            <a:r>
              <a:rPr sz="1100" spc="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Subject</a:t>
            </a:r>
            <a:r>
              <a:rPr sz="1100" spc="4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Code:</a:t>
            </a:r>
            <a:r>
              <a:rPr sz="1100" spc="3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</a:t>
            </a:r>
            <a:endParaRPr sz="1100">
              <a:latin typeface="Cambria"/>
              <a:cs typeface="Cambria"/>
            </a:endParaRPr>
          </a:p>
          <a:p>
            <a:pPr marL="866775" marR="53975">
              <a:lnSpc>
                <a:spcPct val="194800"/>
              </a:lnSpc>
              <a:spcBef>
                <a:spcPts val="20"/>
              </a:spcBef>
            </a:pP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Semester: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 ...............</a:t>
            </a:r>
            <a:r>
              <a:rPr sz="1100" spc="26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Program:</a:t>
            </a:r>
            <a:r>
              <a:rPr sz="1100" spc="3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</a:t>
            </a:r>
            <a:r>
              <a:rPr sz="1100" spc="3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Branch: .........................</a:t>
            </a:r>
            <a:r>
              <a:rPr sz="1100" spc="26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Specialization:</a:t>
            </a:r>
            <a:r>
              <a:rPr sz="1100" spc="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Date:</a:t>
            </a:r>
            <a:r>
              <a:rPr sz="11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100">
              <a:latin typeface="Cambria"/>
              <a:cs typeface="Cambria"/>
            </a:endParaRPr>
          </a:p>
          <a:p>
            <a:pPr marL="2564765">
              <a:lnSpc>
                <a:spcPct val="100000"/>
              </a:lnSpc>
            </a:pP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(Learning</a:t>
            </a:r>
            <a:r>
              <a:rPr sz="1200" spc="-3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by</a:t>
            </a:r>
            <a:r>
              <a:rPr sz="1200" spc="-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Doing</a:t>
            </a:r>
            <a:r>
              <a:rPr sz="1200" spc="-2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and</a:t>
            </a:r>
            <a:r>
              <a:rPr sz="1200" spc="-3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Discovery)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30" dirty="0"/>
              <a:t> </a:t>
            </a:r>
            <a:r>
              <a:rPr sz="800" dirty="0"/>
              <a:t>applicable</a:t>
            </a:r>
            <a:r>
              <a:rPr sz="800" spc="5" dirty="0"/>
              <a:t> </a:t>
            </a:r>
            <a:r>
              <a:rPr sz="800" spc="-10" dirty="0"/>
              <a:t>according</a:t>
            </a:r>
            <a:r>
              <a:rPr sz="800" spc="-25" dirty="0"/>
              <a:t> </a:t>
            </a:r>
            <a:r>
              <a:rPr sz="800" dirty="0"/>
              <a:t>to the</a:t>
            </a:r>
            <a:r>
              <a:rPr sz="800" spc="-25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25" dirty="0"/>
              <a:t> </a:t>
            </a:r>
            <a:r>
              <a:rPr dirty="0"/>
              <a:t>sheets 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1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20" dirty="0"/>
              <a:t>used.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71652" y="2936987"/>
            <a:ext cx="6661150" cy="4068000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965">
              <a:lnSpc>
                <a:spcPts val="1440"/>
              </a:lnSpc>
            </a:pPr>
            <a:r>
              <a:rPr sz="1400" b="1" spc="-10" dirty="0">
                <a:latin typeface="Times New Roman"/>
                <a:cs typeface="Times New Roman"/>
              </a:rPr>
              <a:t>ALGORITHM:</a:t>
            </a:r>
            <a:endParaRPr sz="1400" dirty="0">
              <a:latin typeface="Times New Roman"/>
              <a:cs typeface="Times New Roman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Connect to the blockchain network.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Retrieve the latest block data.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Traverse blocks using previous hash links.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Extract and read transactions from each block.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Verify transactions using Merkle tree.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Validate block integrity and consensus.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Analyze and display blockchain data.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48309" y="7979371"/>
            <a:ext cx="6662420" cy="1890395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240029" indent="-117475">
              <a:lnSpc>
                <a:spcPts val="1405"/>
              </a:lnSpc>
              <a:spcBef>
                <a:spcPts val="550"/>
              </a:spcBef>
              <a:buSzPct val="91666"/>
              <a:buAutoNum type="arabicPeriod"/>
              <a:tabLst>
                <a:tab pos="240029" algn="l"/>
              </a:tabLst>
            </a:pPr>
            <a:r>
              <a:rPr sz="1200" dirty="0">
                <a:latin typeface="Times New Roman"/>
                <a:cs typeface="Times New Roman"/>
              </a:rPr>
              <a:t>Brave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Browser</a:t>
            </a:r>
            <a:endParaRPr sz="1200">
              <a:latin typeface="Times New Roman"/>
              <a:cs typeface="Times New Roman"/>
            </a:endParaRPr>
          </a:p>
          <a:p>
            <a:pPr marL="240029" indent="-117475">
              <a:lnSpc>
                <a:spcPts val="1405"/>
              </a:lnSpc>
              <a:buSzPct val="91666"/>
              <a:buAutoNum type="arabicPeriod"/>
              <a:tabLst>
                <a:tab pos="240029" algn="l"/>
              </a:tabLst>
            </a:pPr>
            <a:r>
              <a:rPr sz="1200" spc="-10" dirty="0">
                <a:latin typeface="Times New Roman"/>
                <a:cs typeface="Times New Roman"/>
              </a:rPr>
              <a:t>Blockchain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Explorer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Website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4657" y="1239214"/>
            <a:ext cx="6671945" cy="8612505"/>
            <a:chOff x="434657" y="1239214"/>
            <a:chExt cx="6671945" cy="8612505"/>
          </a:xfrm>
        </p:grpSpPr>
        <p:sp>
          <p:nvSpPr>
            <p:cNvPr id="3" name="object 3"/>
            <p:cNvSpPr/>
            <p:nvPr/>
          </p:nvSpPr>
          <p:spPr>
            <a:xfrm>
              <a:off x="440054" y="1244612"/>
              <a:ext cx="6661150" cy="8601710"/>
            </a:xfrm>
            <a:custGeom>
              <a:avLst/>
              <a:gdLst/>
              <a:ahLst/>
              <a:cxnLst/>
              <a:rect l="l" t="t" r="r" b="b"/>
              <a:pathLst>
                <a:path w="6661150" h="8601710">
                  <a:moveTo>
                    <a:pt x="0" y="8601456"/>
                  </a:moveTo>
                  <a:lnTo>
                    <a:pt x="6661023" y="8601456"/>
                  </a:lnTo>
                  <a:lnTo>
                    <a:pt x="6661023" y="0"/>
                  </a:lnTo>
                  <a:lnTo>
                    <a:pt x="0" y="0"/>
                  </a:lnTo>
                  <a:lnTo>
                    <a:pt x="0" y="8601456"/>
                  </a:lnTo>
                  <a:close/>
                </a:path>
              </a:pathLst>
            </a:custGeom>
            <a:ln w="10439">
              <a:solidFill>
                <a:srgbClr val="211E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854" y="1484756"/>
              <a:ext cx="6480048" cy="28381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80796" y="441478"/>
            <a:ext cx="6732905" cy="9829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Applied</a:t>
            </a:r>
            <a:r>
              <a:rPr sz="1200" spc="-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and</a:t>
            </a:r>
            <a:r>
              <a:rPr sz="1200" spc="-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Action</a:t>
            </a:r>
            <a:r>
              <a:rPr sz="1200" spc="-4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Learning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400" b="1" baseline="1736" dirty="0">
                <a:solidFill>
                  <a:srgbClr val="211E1F"/>
                </a:solidFill>
                <a:latin typeface="Arial"/>
                <a:cs typeface="Arial"/>
              </a:rPr>
              <a:t>*</a:t>
            </a:r>
            <a:r>
              <a:rPr sz="2400" b="1" spc="142" baseline="1736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Implementation</a:t>
            </a:r>
            <a:r>
              <a:rPr sz="1600" b="1" spc="-8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Phase:</a:t>
            </a:r>
            <a:r>
              <a:rPr sz="1600" b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Final</a:t>
            </a:r>
            <a:r>
              <a:rPr sz="1600" b="1" spc="-8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Output</a:t>
            </a:r>
            <a:r>
              <a:rPr sz="1600" b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(no</a:t>
            </a:r>
            <a:r>
              <a:rPr sz="1600" b="1" spc="-8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error)</a:t>
            </a:r>
            <a:endParaRPr sz="1600">
              <a:latin typeface="Arial"/>
              <a:cs typeface="Arial"/>
            </a:endParaRPr>
          </a:p>
          <a:p>
            <a:pPr marL="70485">
              <a:lnSpc>
                <a:spcPct val="100000"/>
              </a:lnSpc>
              <a:spcBef>
                <a:spcPts val="760"/>
              </a:spcBef>
            </a:pP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bitcoin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explorer-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https://</a:t>
            </a:r>
            <a:r>
              <a:rPr sz="1200" spc="-10" dirty="0">
                <a:latin typeface="Times New Roman"/>
                <a:cs typeface="Times New Roman"/>
                <a:hlinkClick r:id="rId3"/>
              </a:rPr>
              <a:t>www.blockchain.com/explorer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708" y="4453889"/>
            <a:ext cx="43192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i</a:t>
            </a:r>
            <a:r>
              <a:rPr lang="en-IN" sz="1200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address,TXID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Token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name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724" y="5743701"/>
            <a:ext cx="60604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searching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transaction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hash,timestamp,status,block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200" spc="-10" dirty="0">
                <a:latin typeface="Times New Roman"/>
                <a:cs typeface="Times New Roman"/>
              </a:rPr>
              <a:t>number,value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,gas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4675" y="4889372"/>
            <a:ext cx="6524625" cy="4740275"/>
            <a:chOff x="574675" y="4889372"/>
            <a:chExt cx="6524625" cy="474027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4675" y="4889372"/>
              <a:ext cx="6524625" cy="6953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975" y="6645732"/>
              <a:ext cx="6248400" cy="29554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1344" y="6577799"/>
              <a:ext cx="6375400" cy="3039110"/>
            </a:xfrm>
            <a:custGeom>
              <a:avLst/>
              <a:gdLst/>
              <a:ahLst/>
              <a:cxnLst/>
              <a:rect l="l" t="t" r="r" b="b"/>
              <a:pathLst>
                <a:path w="6375400" h="3039109">
                  <a:moveTo>
                    <a:pt x="0" y="3039109"/>
                  </a:moveTo>
                  <a:lnTo>
                    <a:pt x="6375400" y="3039109"/>
                  </a:lnTo>
                  <a:lnTo>
                    <a:pt x="6375400" y="0"/>
                  </a:lnTo>
                  <a:lnTo>
                    <a:pt x="0" y="0"/>
                  </a:lnTo>
                  <a:lnTo>
                    <a:pt x="0" y="3039109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30" dirty="0"/>
              <a:t> </a:t>
            </a:r>
            <a:r>
              <a:rPr sz="800" dirty="0"/>
              <a:t>applicable</a:t>
            </a:r>
            <a:r>
              <a:rPr sz="800" spc="5" dirty="0"/>
              <a:t> </a:t>
            </a:r>
            <a:r>
              <a:rPr sz="800" spc="-10" dirty="0"/>
              <a:t>according</a:t>
            </a:r>
            <a:r>
              <a:rPr sz="800" spc="-25" dirty="0"/>
              <a:t> </a:t>
            </a:r>
            <a:r>
              <a:rPr sz="800" dirty="0"/>
              <a:t>to the</a:t>
            </a:r>
            <a:r>
              <a:rPr sz="800" spc="-25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25" dirty="0"/>
              <a:t> </a:t>
            </a:r>
            <a:r>
              <a:rPr dirty="0"/>
              <a:t>sheets 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1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20" dirty="0"/>
              <a:t>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131" y="548386"/>
            <a:ext cx="46177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b="1" baseline="-8680" dirty="0">
                <a:solidFill>
                  <a:srgbClr val="211E1F"/>
                </a:solidFill>
                <a:latin typeface="Arial"/>
                <a:cs typeface="Arial"/>
              </a:rPr>
              <a:t>*</a:t>
            </a:r>
            <a:r>
              <a:rPr sz="2400" b="1" spc="104" baseline="-868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Implementation</a:t>
            </a:r>
            <a:r>
              <a:rPr sz="1600" b="1" spc="-8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Phase:</a:t>
            </a:r>
            <a:r>
              <a:rPr sz="1600" b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Final</a:t>
            </a:r>
            <a:r>
              <a:rPr sz="1600" b="1" spc="-9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Output</a:t>
            </a:r>
            <a:r>
              <a:rPr sz="1600" b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(no</a:t>
            </a:r>
            <a:r>
              <a:rPr sz="1600" b="1" spc="-8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error)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25922" y="499617"/>
            <a:ext cx="18630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Applied</a:t>
            </a:r>
            <a:r>
              <a:rPr sz="1200" spc="-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and</a:t>
            </a:r>
            <a:r>
              <a:rPr sz="1200" spc="-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Action</a:t>
            </a:r>
            <a:r>
              <a:rPr sz="1200" spc="-4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Learning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708" y="5258815"/>
            <a:ext cx="1480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Observations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7504" y="7667878"/>
          <a:ext cx="6663687" cy="17672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1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79883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b="1" spc="-10" dirty="0">
                          <a:solidFill>
                            <a:srgbClr val="211E1F"/>
                          </a:solidFill>
                          <a:latin typeface="Arial"/>
                          <a:cs typeface="Arial"/>
                        </a:rPr>
                        <a:t>Rubrics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Concept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Planning</a:t>
                      </a: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4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Execution/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428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Practical</a:t>
                      </a:r>
                      <a:r>
                        <a:rPr sz="1050" spc="-1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Simulation/</a:t>
                      </a:r>
                      <a:r>
                        <a:rPr sz="1050" spc="-2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Programming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050" spc="-2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Interpretation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r>
                        <a:rPr sz="1050" spc="-3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50" spc="2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Applied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Action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Learning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spc="-2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Viva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50" b="1" spc="-10" dirty="0">
                          <a:solidFill>
                            <a:srgbClr val="211E1F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50" b="1" spc="-25" dirty="0">
                          <a:solidFill>
                            <a:srgbClr val="211E1F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826255" y="9700970"/>
            <a:ext cx="1811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Signature</a:t>
            </a:r>
            <a:r>
              <a:rPr sz="1200" b="1" i="1" spc="-4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of</a:t>
            </a:r>
            <a:r>
              <a:rPr sz="1200" b="1" i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the</a:t>
            </a:r>
            <a:r>
              <a:rPr sz="1200" b="1" i="1" spc="-4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Student: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7554" y="7724013"/>
            <a:ext cx="214604" cy="111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9080" y="7724013"/>
            <a:ext cx="312115" cy="1117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42104" y="7721646"/>
            <a:ext cx="967739" cy="1142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7859" y="7724013"/>
            <a:ext cx="548779" cy="1117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0169" y="1262379"/>
            <a:ext cx="6388861" cy="285407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8289" y="1116202"/>
            <a:ext cx="6661150" cy="3990975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200">
              <a:latin typeface="Times New Roman"/>
              <a:cs typeface="Times New Roman"/>
            </a:endParaRPr>
          </a:p>
          <a:p>
            <a:pPr marL="9842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blockchain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explorer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26509" y="10243857"/>
            <a:ext cx="523240" cy="132715"/>
            <a:chOff x="3826509" y="10243857"/>
            <a:chExt cx="523240" cy="13271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26509" y="10243857"/>
              <a:ext cx="306717" cy="1321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76775" y="10243857"/>
              <a:ext cx="172796" cy="104038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4396105" y="10271797"/>
            <a:ext cx="29845" cy="74930"/>
          </a:xfrm>
          <a:custGeom>
            <a:avLst/>
            <a:gdLst/>
            <a:ahLst/>
            <a:cxnLst/>
            <a:rect l="l" t="t" r="r" b="b"/>
            <a:pathLst>
              <a:path w="29845" h="74929">
                <a:moveTo>
                  <a:pt x="19431" y="54356"/>
                </a:moveTo>
                <a:lnTo>
                  <a:pt x="2921" y="54356"/>
                </a:lnTo>
                <a:lnTo>
                  <a:pt x="0" y="74879"/>
                </a:lnTo>
                <a:lnTo>
                  <a:pt x="16256" y="74879"/>
                </a:lnTo>
                <a:lnTo>
                  <a:pt x="19431" y="54356"/>
                </a:lnTo>
                <a:close/>
              </a:path>
              <a:path w="29845" h="74929">
                <a:moveTo>
                  <a:pt x="29464" y="0"/>
                </a:moveTo>
                <a:lnTo>
                  <a:pt x="12192" y="0"/>
                </a:lnTo>
                <a:lnTo>
                  <a:pt x="9398" y="18719"/>
                </a:lnTo>
                <a:lnTo>
                  <a:pt x="26289" y="18719"/>
                </a:lnTo>
                <a:lnTo>
                  <a:pt x="29464" y="0"/>
                </a:lnTo>
                <a:close/>
              </a:path>
            </a:pathLst>
          </a:custGeom>
          <a:solidFill>
            <a:srgbClr val="211E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42050" y="10116222"/>
            <a:ext cx="587463" cy="19691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8309" y="5652514"/>
            <a:ext cx="6662420" cy="1368000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91440" marR="325120" indent="-5715">
              <a:lnSpc>
                <a:spcPts val="1320"/>
              </a:lnSpc>
              <a:spcBef>
                <a:spcPts val="695"/>
              </a:spcBef>
              <a:buSzPct val="91666"/>
              <a:buAutoNum type="arabicPeriod"/>
              <a:tabLst>
                <a:tab pos="203200" algn="l"/>
              </a:tabLst>
            </a:pPr>
            <a:r>
              <a:rPr lang="en-IN" sz="1200" dirty="0">
                <a:latin typeface="Times New Roman"/>
                <a:cs typeface="Times New Roman"/>
              </a:rPr>
              <a:t> Each block is securely linked to the previous one through cryptographic hashes.</a:t>
            </a:r>
            <a:endParaRPr sz="1200" dirty="0">
              <a:latin typeface="Times New Roman"/>
              <a:cs typeface="Times New Roman"/>
            </a:endParaRPr>
          </a:p>
          <a:p>
            <a:pPr marL="91440" marR="195580" indent="-5715">
              <a:lnSpc>
                <a:spcPts val="1340"/>
              </a:lnSpc>
              <a:spcBef>
                <a:spcPts val="10"/>
              </a:spcBef>
              <a:buSzPct val="91666"/>
              <a:buAutoNum type="arabicPeriod"/>
              <a:tabLst>
                <a:tab pos="203200" algn="l"/>
              </a:tabLst>
            </a:pPr>
            <a:r>
              <a:rPr sz="1200" dirty="0">
                <a:latin typeface="Times New Roman"/>
                <a:cs typeface="Times New Roman"/>
              </a:rPr>
              <a:t>	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en-IN" sz="1200" spc="-35" dirty="0">
                <a:latin typeface="Times New Roman"/>
                <a:cs typeface="Times New Roman"/>
              </a:rPr>
              <a:t>blockchain ensures data transparency and immutability and transactions can be traced but no altered once confirmed.</a:t>
            </a:r>
            <a:endParaRPr sz="1200" dirty="0">
              <a:latin typeface="Times New Roman"/>
              <a:cs typeface="Times New Roman"/>
            </a:endParaRPr>
          </a:p>
          <a:p>
            <a:pPr marL="203200" indent="-117475">
              <a:lnSpc>
                <a:spcPts val="1260"/>
              </a:lnSpc>
              <a:buSzPct val="91666"/>
              <a:buAutoNum type="arabicPeriod"/>
              <a:tabLst>
                <a:tab pos="203200" algn="l"/>
              </a:tabLst>
            </a:pP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clearly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listed,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Bitcoin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spent from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one</a:t>
            </a:r>
            <a:endParaRPr sz="1200" dirty="0">
              <a:latin typeface="Times New Roman"/>
              <a:cs typeface="Times New Roman"/>
            </a:endParaRPr>
          </a:p>
          <a:p>
            <a:pPr marL="91440">
              <a:lnSpc>
                <a:spcPts val="1405"/>
              </a:lnSpc>
            </a:pP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10" dirty="0">
                <a:latin typeface="Times New Roman"/>
                <a:cs typeface="Times New Roman"/>
              </a:rPr>
              <a:t> recipients.</a:t>
            </a:r>
            <a:endParaRPr sz="1200" dirty="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86429" y="7438770"/>
            <a:ext cx="1275715" cy="144145"/>
            <a:chOff x="3186429" y="7438770"/>
            <a:chExt cx="1275715" cy="14414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86429" y="7438770"/>
              <a:ext cx="372592" cy="14363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81399" y="7438770"/>
              <a:ext cx="349554" cy="14363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52112" y="7440929"/>
              <a:ext cx="128511" cy="13931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106926" y="7441183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101473" y="115570"/>
                  </a:moveTo>
                  <a:lnTo>
                    <a:pt x="27051" y="115570"/>
                  </a:lnTo>
                  <a:lnTo>
                    <a:pt x="27051" y="77470"/>
                  </a:lnTo>
                  <a:lnTo>
                    <a:pt x="93980" y="77470"/>
                  </a:lnTo>
                  <a:lnTo>
                    <a:pt x="93980" y="54610"/>
                  </a:lnTo>
                  <a:lnTo>
                    <a:pt x="27051" y="54610"/>
                  </a:lnTo>
                  <a:lnTo>
                    <a:pt x="27051" y="24130"/>
                  </a:lnTo>
                  <a:lnTo>
                    <a:pt x="99060" y="24130"/>
                  </a:lnTo>
                  <a:lnTo>
                    <a:pt x="9906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54610"/>
                  </a:lnTo>
                  <a:lnTo>
                    <a:pt x="0" y="77470"/>
                  </a:lnTo>
                  <a:lnTo>
                    <a:pt x="0" y="115570"/>
                  </a:lnTo>
                  <a:lnTo>
                    <a:pt x="0" y="139700"/>
                  </a:lnTo>
                  <a:lnTo>
                    <a:pt x="101473" y="139700"/>
                  </a:lnTo>
                  <a:lnTo>
                    <a:pt x="101473" y="11557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30750" y="7440675"/>
              <a:ext cx="231114" cy="13969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3827145" y="10011433"/>
            <a:ext cx="375920" cy="103505"/>
            <a:chOff x="3827145" y="10011433"/>
            <a:chExt cx="375920" cy="103505"/>
          </a:xfrm>
        </p:grpSpPr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27145" y="10011433"/>
              <a:ext cx="307073" cy="10340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73474" y="10038981"/>
              <a:ext cx="29845" cy="74930"/>
            </a:xfrm>
            <a:custGeom>
              <a:avLst/>
              <a:gdLst/>
              <a:ahLst/>
              <a:cxnLst/>
              <a:rect l="l" t="t" r="r" b="b"/>
              <a:pathLst>
                <a:path w="29845" h="74929">
                  <a:moveTo>
                    <a:pt x="20193" y="55105"/>
                  </a:moveTo>
                  <a:lnTo>
                    <a:pt x="3175" y="55105"/>
                  </a:lnTo>
                  <a:lnTo>
                    <a:pt x="0" y="74422"/>
                  </a:lnTo>
                  <a:lnTo>
                    <a:pt x="15875" y="74422"/>
                  </a:lnTo>
                  <a:lnTo>
                    <a:pt x="20193" y="55105"/>
                  </a:lnTo>
                  <a:close/>
                </a:path>
                <a:path w="29845" h="74929">
                  <a:moveTo>
                    <a:pt x="29464" y="0"/>
                  </a:moveTo>
                  <a:lnTo>
                    <a:pt x="12954" y="0"/>
                  </a:lnTo>
                  <a:lnTo>
                    <a:pt x="9398" y="19672"/>
                  </a:lnTo>
                  <a:lnTo>
                    <a:pt x="25527" y="19672"/>
                  </a:lnTo>
                  <a:lnTo>
                    <a:pt x="29464" y="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30" dirty="0"/>
              <a:t> </a:t>
            </a:r>
            <a:r>
              <a:rPr sz="800" dirty="0"/>
              <a:t>applicable</a:t>
            </a:r>
            <a:r>
              <a:rPr sz="800" spc="5" dirty="0"/>
              <a:t> </a:t>
            </a:r>
            <a:r>
              <a:rPr sz="800" spc="-10" dirty="0"/>
              <a:t>according</a:t>
            </a:r>
            <a:r>
              <a:rPr sz="800" spc="-25" dirty="0"/>
              <a:t> </a:t>
            </a:r>
            <a:r>
              <a:rPr sz="800" dirty="0"/>
              <a:t>to the</a:t>
            </a:r>
            <a:r>
              <a:rPr sz="800" spc="-25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Two</a:t>
            </a:r>
            <a:r>
              <a:rPr spc="-25" dirty="0"/>
              <a:t> </a:t>
            </a:r>
            <a:r>
              <a:rPr dirty="0"/>
              <a:t>sheets 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1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20" dirty="0"/>
              <a:t>used.</a:t>
            </a: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20A1E7CD-409A-9A73-846D-C3B57A7E7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353</Words>
  <Application>Microsoft Office PowerPoint</Application>
  <PresentationFormat>Custom</PresentationFormat>
  <Paragraphs>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MT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Subash Pradhan</dc:creator>
  <cp:lastModifiedBy>Subash Pradhan</cp:lastModifiedBy>
  <cp:revision>1</cp:revision>
  <dcterms:created xsi:type="dcterms:W3CDTF">2025-10-31T17:20:39Z</dcterms:created>
  <dcterms:modified xsi:type="dcterms:W3CDTF">2025-10-31T18:00:00Z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2025-10-31T00:00:00Z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2025-10-31T00:00:00Z</vt:filetime>
  </property>
  <property fmtid="{D5CDD505-2E9C-101B-9397-08002B2CF9AE}" pid="5" name="Producer">
    <vt:lpwstr>www.ilovepdf.com</vt:lpwstr>
  </property>
</Properties>
</file>