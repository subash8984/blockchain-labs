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42050" y="9953625"/>
            <a:ext cx="587463" cy="19691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40347" y="10101948"/>
            <a:ext cx="323215" cy="18415"/>
          </a:xfrm>
          <a:custGeom>
            <a:avLst/>
            <a:gdLst/>
            <a:ahLst/>
            <a:cxnLst/>
            <a:rect l="l" t="t" r="r" b="b"/>
            <a:pathLst>
              <a:path w="323215" h="18415">
                <a:moveTo>
                  <a:pt x="14020" y="0"/>
                </a:moveTo>
                <a:lnTo>
                  <a:pt x="0" y="0"/>
                </a:lnTo>
                <a:lnTo>
                  <a:pt x="0" y="18351"/>
                </a:lnTo>
                <a:lnTo>
                  <a:pt x="14020" y="18351"/>
                </a:lnTo>
                <a:lnTo>
                  <a:pt x="14020" y="0"/>
                </a:lnTo>
                <a:close/>
              </a:path>
              <a:path w="323215" h="18415">
                <a:moveTo>
                  <a:pt x="45237" y="0"/>
                </a:moveTo>
                <a:lnTo>
                  <a:pt x="30861" y="0"/>
                </a:lnTo>
                <a:lnTo>
                  <a:pt x="30861" y="18351"/>
                </a:lnTo>
                <a:lnTo>
                  <a:pt x="45237" y="18351"/>
                </a:lnTo>
                <a:lnTo>
                  <a:pt x="45237" y="0"/>
                </a:lnTo>
                <a:close/>
              </a:path>
              <a:path w="323215" h="18415">
                <a:moveTo>
                  <a:pt x="71234" y="0"/>
                </a:moveTo>
                <a:lnTo>
                  <a:pt x="56134" y="0"/>
                </a:lnTo>
                <a:lnTo>
                  <a:pt x="56134" y="18351"/>
                </a:lnTo>
                <a:lnTo>
                  <a:pt x="71234" y="18351"/>
                </a:lnTo>
                <a:lnTo>
                  <a:pt x="71234" y="0"/>
                </a:lnTo>
                <a:close/>
              </a:path>
              <a:path w="323215" h="18415">
                <a:moveTo>
                  <a:pt x="97142" y="0"/>
                </a:moveTo>
                <a:lnTo>
                  <a:pt x="82042" y="0"/>
                </a:lnTo>
                <a:lnTo>
                  <a:pt x="82042" y="18351"/>
                </a:lnTo>
                <a:lnTo>
                  <a:pt x="97142" y="18351"/>
                </a:lnTo>
                <a:lnTo>
                  <a:pt x="97142" y="0"/>
                </a:lnTo>
                <a:close/>
              </a:path>
              <a:path w="323215" h="18415">
                <a:moveTo>
                  <a:pt x="120789" y="0"/>
                </a:moveTo>
                <a:lnTo>
                  <a:pt x="106045" y="0"/>
                </a:lnTo>
                <a:lnTo>
                  <a:pt x="106045" y="18351"/>
                </a:lnTo>
                <a:lnTo>
                  <a:pt x="120789" y="18351"/>
                </a:lnTo>
                <a:lnTo>
                  <a:pt x="120789" y="0"/>
                </a:lnTo>
                <a:close/>
              </a:path>
              <a:path w="323215" h="18415">
                <a:moveTo>
                  <a:pt x="144894" y="0"/>
                </a:moveTo>
                <a:lnTo>
                  <a:pt x="129794" y="0"/>
                </a:lnTo>
                <a:lnTo>
                  <a:pt x="129794" y="18351"/>
                </a:lnTo>
                <a:lnTo>
                  <a:pt x="144894" y="18351"/>
                </a:lnTo>
                <a:lnTo>
                  <a:pt x="144894" y="0"/>
                </a:lnTo>
                <a:close/>
              </a:path>
              <a:path w="323215" h="18415">
                <a:moveTo>
                  <a:pt x="166509" y="0"/>
                </a:moveTo>
                <a:lnTo>
                  <a:pt x="151765" y="0"/>
                </a:lnTo>
                <a:lnTo>
                  <a:pt x="151765" y="18351"/>
                </a:lnTo>
                <a:lnTo>
                  <a:pt x="166509" y="18351"/>
                </a:lnTo>
                <a:lnTo>
                  <a:pt x="166509" y="0"/>
                </a:lnTo>
                <a:close/>
              </a:path>
              <a:path w="323215" h="18415">
                <a:moveTo>
                  <a:pt x="192455" y="0"/>
                </a:moveTo>
                <a:lnTo>
                  <a:pt x="178435" y="0"/>
                </a:lnTo>
                <a:lnTo>
                  <a:pt x="178435" y="18351"/>
                </a:lnTo>
                <a:lnTo>
                  <a:pt x="192455" y="18351"/>
                </a:lnTo>
                <a:lnTo>
                  <a:pt x="192455" y="0"/>
                </a:lnTo>
                <a:close/>
              </a:path>
              <a:path w="323215" h="18415">
                <a:moveTo>
                  <a:pt x="223697" y="0"/>
                </a:moveTo>
                <a:lnTo>
                  <a:pt x="209677" y="0"/>
                </a:lnTo>
                <a:lnTo>
                  <a:pt x="209677" y="18351"/>
                </a:lnTo>
                <a:lnTo>
                  <a:pt x="223697" y="18351"/>
                </a:lnTo>
                <a:lnTo>
                  <a:pt x="223697" y="0"/>
                </a:lnTo>
                <a:close/>
              </a:path>
              <a:path w="323215" h="18415">
                <a:moveTo>
                  <a:pt x="249567" y="0"/>
                </a:moveTo>
                <a:lnTo>
                  <a:pt x="234823" y="0"/>
                </a:lnTo>
                <a:lnTo>
                  <a:pt x="234823" y="18351"/>
                </a:lnTo>
                <a:lnTo>
                  <a:pt x="249567" y="18351"/>
                </a:lnTo>
                <a:lnTo>
                  <a:pt x="249567" y="0"/>
                </a:lnTo>
                <a:close/>
              </a:path>
              <a:path w="323215" h="18415">
                <a:moveTo>
                  <a:pt x="275475" y="0"/>
                </a:moveTo>
                <a:lnTo>
                  <a:pt x="260731" y="0"/>
                </a:lnTo>
                <a:lnTo>
                  <a:pt x="260731" y="18351"/>
                </a:lnTo>
                <a:lnTo>
                  <a:pt x="275475" y="18351"/>
                </a:lnTo>
                <a:lnTo>
                  <a:pt x="275475" y="0"/>
                </a:lnTo>
                <a:close/>
              </a:path>
              <a:path w="323215" h="18415">
                <a:moveTo>
                  <a:pt x="299580" y="0"/>
                </a:moveTo>
                <a:lnTo>
                  <a:pt x="284480" y="0"/>
                </a:lnTo>
                <a:lnTo>
                  <a:pt x="284480" y="18351"/>
                </a:lnTo>
                <a:lnTo>
                  <a:pt x="299580" y="18351"/>
                </a:lnTo>
                <a:lnTo>
                  <a:pt x="299580" y="0"/>
                </a:lnTo>
                <a:close/>
              </a:path>
              <a:path w="323215" h="18415">
                <a:moveTo>
                  <a:pt x="322630" y="0"/>
                </a:moveTo>
                <a:lnTo>
                  <a:pt x="308610" y="0"/>
                </a:lnTo>
                <a:lnTo>
                  <a:pt x="308610" y="18351"/>
                </a:lnTo>
                <a:lnTo>
                  <a:pt x="322630" y="18351"/>
                </a:lnTo>
                <a:lnTo>
                  <a:pt x="322630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990"/>
            <a:ext cx="6812280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0942"/>
            <a:ext cx="6812280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42713" y="10151767"/>
            <a:ext cx="2166620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6914" y="10299212"/>
            <a:ext cx="22472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1" i="1">
                <a:solidFill>
                  <a:srgbClr val="211E1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7.jp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972" y="8069156"/>
            <a:ext cx="1428750" cy="5073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1330"/>
              </a:lnSpc>
              <a:spcBef>
                <a:spcPts val="5"/>
              </a:spcBef>
            </a:pPr>
            <a:r>
              <a:rPr sz="1200" dirty="0">
                <a:latin typeface="Times New Roman"/>
                <a:cs typeface="Times New Roman"/>
              </a:rPr>
              <a:t>1.Chrom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Browser 2.Blockchain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Explorers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ts val="1310"/>
              </a:lnSpc>
            </a:pPr>
            <a:r>
              <a:rPr sz="1200" dirty="0">
                <a:latin typeface="Times New Roman"/>
                <a:cs typeface="Times New Roman"/>
              </a:rPr>
              <a:t>3.Text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Editor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880" y="7584185"/>
            <a:ext cx="1652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Softwares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used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582" y="509879"/>
            <a:ext cx="533463" cy="9075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833" y="2252725"/>
            <a:ext cx="1827911" cy="14147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70607" y="1756930"/>
            <a:ext cx="824865" cy="211454"/>
            <a:chOff x="2570607" y="1756930"/>
            <a:chExt cx="824865" cy="21145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0607" y="1756930"/>
              <a:ext cx="297688" cy="2113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0647" y="1799043"/>
              <a:ext cx="116980" cy="1692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31744" y="1756955"/>
              <a:ext cx="95885" cy="166370"/>
            </a:xfrm>
            <a:custGeom>
              <a:avLst/>
              <a:gdLst/>
              <a:ahLst/>
              <a:cxnLst/>
              <a:rect l="l" t="t" r="r" b="b"/>
              <a:pathLst>
                <a:path w="95885" h="166369">
                  <a:moveTo>
                    <a:pt x="31661" y="0"/>
                  </a:moveTo>
                  <a:lnTo>
                    <a:pt x="0" y="0"/>
                  </a:lnTo>
                  <a:lnTo>
                    <a:pt x="0" y="165950"/>
                  </a:lnTo>
                  <a:lnTo>
                    <a:pt x="31661" y="165950"/>
                  </a:lnTo>
                  <a:lnTo>
                    <a:pt x="31661" y="0"/>
                  </a:lnTo>
                  <a:close/>
                </a:path>
                <a:path w="95885" h="166369">
                  <a:moveTo>
                    <a:pt x="95415" y="45008"/>
                  </a:moveTo>
                  <a:lnTo>
                    <a:pt x="63754" y="45008"/>
                  </a:lnTo>
                  <a:lnTo>
                    <a:pt x="63754" y="165950"/>
                  </a:lnTo>
                  <a:lnTo>
                    <a:pt x="95415" y="165950"/>
                  </a:lnTo>
                  <a:lnTo>
                    <a:pt x="95415" y="45008"/>
                  </a:lnTo>
                  <a:close/>
                </a:path>
                <a:path w="95885" h="166369">
                  <a:moveTo>
                    <a:pt x="95415" y="12"/>
                  </a:moveTo>
                  <a:lnTo>
                    <a:pt x="63754" y="12"/>
                  </a:lnTo>
                  <a:lnTo>
                    <a:pt x="63754" y="28790"/>
                  </a:lnTo>
                  <a:lnTo>
                    <a:pt x="95415" y="28790"/>
                  </a:lnTo>
                  <a:lnTo>
                    <a:pt x="95415" y="12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9473" y="1756993"/>
              <a:ext cx="245490" cy="168833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481070" y="1756993"/>
            <a:ext cx="384810" cy="168910"/>
            <a:chOff x="3481070" y="1756993"/>
            <a:chExt cx="384810" cy="16891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1070" y="1799108"/>
              <a:ext cx="111471" cy="1267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6071" y="1799070"/>
              <a:ext cx="108344" cy="1238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8913" y="1756993"/>
              <a:ext cx="116908" cy="168833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933825" y="1756993"/>
            <a:ext cx="696595" cy="168910"/>
            <a:chOff x="3933825" y="1756993"/>
            <a:chExt cx="696595" cy="16891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33825" y="1756993"/>
              <a:ext cx="417195" cy="1688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75150" y="1799108"/>
              <a:ext cx="123101" cy="1267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1708" y="1799070"/>
              <a:ext cx="108701" cy="12383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725796" y="1756957"/>
            <a:ext cx="934719" cy="214629"/>
            <a:chOff x="4725796" y="1756957"/>
            <a:chExt cx="934719" cy="214629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25796" y="1758378"/>
              <a:ext cx="369315" cy="1674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17464" y="1799070"/>
              <a:ext cx="198691" cy="1238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47081" y="1756968"/>
              <a:ext cx="32384" cy="166370"/>
            </a:xfrm>
            <a:custGeom>
              <a:avLst/>
              <a:gdLst/>
              <a:ahLst/>
              <a:cxnLst/>
              <a:rect l="l" t="t" r="r" b="b"/>
              <a:pathLst>
                <a:path w="32385" h="166369">
                  <a:moveTo>
                    <a:pt x="32385" y="44996"/>
                  </a:moveTo>
                  <a:lnTo>
                    <a:pt x="0" y="44996"/>
                  </a:lnTo>
                  <a:lnTo>
                    <a:pt x="0" y="165938"/>
                  </a:lnTo>
                  <a:lnTo>
                    <a:pt x="32385" y="165938"/>
                  </a:lnTo>
                  <a:lnTo>
                    <a:pt x="32385" y="44996"/>
                  </a:lnTo>
                  <a:close/>
                </a:path>
                <a:path w="32385" h="166369">
                  <a:moveTo>
                    <a:pt x="32385" y="0"/>
                  </a:moveTo>
                  <a:lnTo>
                    <a:pt x="0" y="0"/>
                  </a:lnTo>
                  <a:lnTo>
                    <a:pt x="0" y="28778"/>
                  </a:lnTo>
                  <a:lnTo>
                    <a:pt x="32385" y="2877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0453" y="1799070"/>
              <a:ext cx="109424" cy="12383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43295" y="1799081"/>
              <a:ext cx="116624" cy="17208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19874" y="462406"/>
            <a:ext cx="6697980" cy="168592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868044">
              <a:lnSpc>
                <a:spcPct val="100000"/>
              </a:lnSpc>
              <a:spcBef>
                <a:spcPts val="850"/>
              </a:spcBef>
            </a:pP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School: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.............................................................................................................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Campus:</a:t>
            </a:r>
            <a:r>
              <a:rPr sz="1100" spc="1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</a:t>
            </a:r>
            <a:endParaRPr sz="1100">
              <a:latin typeface="Cambria"/>
              <a:cs typeface="Cambria"/>
            </a:endParaRPr>
          </a:p>
          <a:p>
            <a:pPr marL="868044">
              <a:lnSpc>
                <a:spcPct val="100000"/>
              </a:lnSpc>
              <a:spcBef>
                <a:spcPts val="1260"/>
              </a:spcBef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Academic</a:t>
            </a:r>
            <a:r>
              <a:rPr sz="1100" spc="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Year:</a:t>
            </a:r>
            <a:r>
              <a:rPr sz="1100" spc="3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</a:t>
            </a:r>
            <a:r>
              <a:rPr sz="1100" spc="5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Name:</a:t>
            </a:r>
            <a:r>
              <a:rPr sz="1100" spc="5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...........................................................</a:t>
            </a:r>
            <a:r>
              <a:rPr sz="1100" spc="6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Subject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Code:</a:t>
            </a:r>
            <a:r>
              <a:rPr sz="1100" spc="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</a:t>
            </a:r>
            <a:endParaRPr sz="1100">
              <a:latin typeface="Cambria"/>
              <a:cs typeface="Cambria"/>
            </a:endParaRPr>
          </a:p>
          <a:p>
            <a:pPr marL="868044" marR="49530">
              <a:lnSpc>
                <a:spcPct val="195500"/>
              </a:lnSpc>
            </a:pP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Semester: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...............</a:t>
            </a:r>
            <a:r>
              <a:rPr sz="1100" spc="2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Program:</a:t>
            </a:r>
            <a:r>
              <a:rPr sz="1100" spc="-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........................................</a:t>
            </a:r>
            <a:r>
              <a:rPr sz="1100" spc="1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Branch: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.........................</a:t>
            </a:r>
            <a:r>
              <a:rPr sz="1100" spc="26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Specialization: .......................... </a:t>
            </a:r>
            <a:r>
              <a:rPr sz="1100" dirty="0">
                <a:solidFill>
                  <a:srgbClr val="211E1F"/>
                </a:solidFill>
                <a:latin typeface="Cambria"/>
                <a:cs typeface="Cambria"/>
              </a:rPr>
              <a:t>Date:</a:t>
            </a:r>
            <a:r>
              <a:rPr sz="1100" spc="-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1E1F"/>
                </a:solidFill>
                <a:latin typeface="Cambria"/>
                <a:cs typeface="Cambria"/>
              </a:rPr>
              <a:t>.....................................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00">
              <a:latin typeface="Cambria"/>
              <a:cs typeface="Cambria"/>
            </a:endParaRPr>
          </a:p>
          <a:p>
            <a:pPr marL="2566035">
              <a:lnSpc>
                <a:spcPct val="100000"/>
              </a:lnSpc>
            </a:pP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(Learning</a:t>
            </a:r>
            <a:r>
              <a:rPr sz="1200" spc="-35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by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Doing</a:t>
            </a:r>
            <a:r>
              <a:rPr sz="1200" spc="-4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2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Discovery)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1347" y="2141607"/>
            <a:ext cx="5242560" cy="5638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001520">
              <a:lnSpc>
                <a:spcPct val="100000"/>
              </a:lnSpc>
              <a:spcBef>
                <a:spcPts val="475"/>
              </a:spcBef>
            </a:pP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Consensus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Mechanism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Comparison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1600" b="1" spc="114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Coding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2400" b="1" spc="-120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Pseudo</a:t>
            </a:r>
            <a:r>
              <a:rPr sz="2400" b="1" spc="-9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Code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89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Flow</a:t>
            </a:r>
            <a:r>
              <a:rPr sz="2400" b="1" spc="-12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Chart</a:t>
            </a:r>
            <a:r>
              <a:rPr sz="2400" b="1" spc="-104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211E1F"/>
                </a:solidFill>
                <a:latin typeface="Arial"/>
                <a:cs typeface="Arial"/>
              </a:rPr>
              <a:t>/</a:t>
            </a:r>
            <a:r>
              <a:rPr sz="2400" b="1" spc="-97" baseline="3472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2400" b="1" spc="-15" baseline="3472" dirty="0">
                <a:solidFill>
                  <a:srgbClr val="211E1F"/>
                </a:solidFill>
                <a:latin typeface="Arial"/>
                <a:cs typeface="Arial"/>
              </a:rPr>
              <a:t>Algorithm</a:t>
            </a:r>
            <a:endParaRPr sz="2400" baseline="3472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8784" y="2751453"/>
            <a:ext cx="6661150" cy="4392000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72085" rIns="0" bIns="0" rtlCol="0">
            <a:spAutoFit/>
          </a:bodyPr>
          <a:lstStyle/>
          <a:p>
            <a:pPr marL="180975">
              <a:lnSpc>
                <a:spcPts val="1639"/>
              </a:lnSpc>
              <a:spcBef>
                <a:spcPts val="1355"/>
              </a:spcBef>
            </a:pPr>
            <a:r>
              <a:rPr sz="1400" b="1" spc="-10" dirty="0">
                <a:latin typeface="Times New Roman"/>
                <a:cs typeface="Times New Roman"/>
              </a:rPr>
              <a:t>Introduction</a:t>
            </a:r>
            <a:r>
              <a:rPr lang="en-IN" sz="1400" b="1" spc="-10" dirty="0">
                <a:latin typeface="Times New Roman"/>
                <a:cs typeface="Times New Roman"/>
              </a:rPr>
              <a:t>:</a:t>
            </a:r>
          </a:p>
          <a:p>
            <a:pPr marL="180975">
              <a:lnSpc>
                <a:spcPts val="1639"/>
              </a:lnSpc>
              <a:spcBef>
                <a:spcPts val="135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80975" marR="462915">
              <a:lnSpc>
                <a:spcPts val="1380"/>
              </a:lnSpc>
              <a:spcBef>
                <a:spcPts val="55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purpose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lab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timeline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highlights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key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history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digital </a:t>
            </a:r>
            <a:r>
              <a:rPr sz="1600" dirty="0">
                <a:latin typeface="Times New Roman"/>
                <a:cs typeface="Times New Roman"/>
              </a:rPr>
              <a:t>currencies.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cover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journey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concepts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electronic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money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modern cryptocurrencies.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timeline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major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milestones,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technological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innovations,</a:t>
            </a:r>
            <a:r>
              <a:rPr sz="1600" spc="-25" dirty="0">
                <a:latin typeface="Times New Roman"/>
                <a:cs typeface="Times New Roman"/>
              </a:rPr>
              <a:t> and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developments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shaped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growth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currencies.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will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help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understand </a:t>
            </a:r>
            <a:r>
              <a:rPr sz="1600" dirty="0">
                <a:latin typeface="Times New Roman"/>
                <a:cs typeface="Times New Roman"/>
              </a:rPr>
              <a:t>their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origin,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evolution,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current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role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today’s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world.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2284" y="8046719"/>
            <a:ext cx="4038600" cy="1722756"/>
          </a:xfrm>
          <a:custGeom>
            <a:avLst/>
            <a:gdLst/>
            <a:ahLst/>
            <a:cxnLst/>
            <a:rect l="l" t="t" r="r" b="b"/>
            <a:pathLst>
              <a:path w="4038600" h="891540">
                <a:moveTo>
                  <a:pt x="4038600" y="0"/>
                </a:moveTo>
                <a:lnTo>
                  <a:pt x="0" y="0"/>
                </a:lnTo>
                <a:lnTo>
                  <a:pt x="0" y="891540"/>
                </a:lnTo>
                <a:lnTo>
                  <a:pt x="4038600" y="891540"/>
                </a:lnTo>
                <a:lnTo>
                  <a:pt x="403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48309" y="7979408"/>
            <a:ext cx="6662420" cy="1908000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77190" indent="-228600">
              <a:lnSpc>
                <a:spcPts val="1410"/>
              </a:lnSpc>
              <a:spcBef>
                <a:spcPts val="840"/>
              </a:spcBef>
              <a:buAutoNum type="arabicPeriod"/>
              <a:tabLst>
                <a:tab pos="377190" algn="l"/>
              </a:tabLst>
            </a:pPr>
            <a:r>
              <a:rPr sz="1600" dirty="0">
                <a:latin typeface="Times New Roman"/>
                <a:cs typeface="Times New Roman"/>
              </a:rPr>
              <a:t>Chrome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web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browser</a:t>
            </a:r>
            <a:endParaRPr sz="1600" dirty="0">
              <a:latin typeface="Times New Roman"/>
              <a:cs typeface="Times New Roman"/>
            </a:endParaRPr>
          </a:p>
          <a:p>
            <a:pPr marL="377190" indent="-228600">
              <a:lnSpc>
                <a:spcPts val="1380"/>
              </a:lnSpc>
              <a:buAutoNum type="arabicPeriod"/>
              <a:tabLst>
                <a:tab pos="377190" algn="l"/>
              </a:tabLst>
            </a:pPr>
            <a:r>
              <a:rPr sz="1600" dirty="0">
                <a:latin typeface="Times New Roman"/>
                <a:cs typeface="Times New Roman"/>
              </a:rPr>
              <a:t>Blockchain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Explorer</a:t>
            </a:r>
            <a:endParaRPr sz="1600" dirty="0">
              <a:latin typeface="Times New Roman"/>
              <a:cs typeface="Times New Roman"/>
            </a:endParaRPr>
          </a:p>
          <a:p>
            <a:pPr marL="377190" indent="-228600">
              <a:lnSpc>
                <a:spcPts val="1410"/>
              </a:lnSpc>
              <a:buAutoNum type="arabicPeriod"/>
              <a:tabLst>
                <a:tab pos="377190" algn="l"/>
              </a:tabLst>
            </a:pP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Editor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9419" y="1239748"/>
            <a:ext cx="6661150" cy="8601710"/>
          </a:xfrm>
          <a:custGeom>
            <a:avLst/>
            <a:gdLst/>
            <a:ahLst/>
            <a:cxnLst/>
            <a:rect l="l" t="t" r="r" b="b"/>
            <a:pathLst>
              <a:path w="6661150" h="8601710">
                <a:moveTo>
                  <a:pt x="0" y="8601456"/>
                </a:moveTo>
                <a:lnTo>
                  <a:pt x="6661023" y="8601456"/>
                </a:lnTo>
                <a:lnTo>
                  <a:pt x="6661023" y="0"/>
                </a:lnTo>
                <a:lnTo>
                  <a:pt x="0" y="0"/>
                </a:lnTo>
                <a:lnTo>
                  <a:pt x="0" y="8601456"/>
                </a:lnTo>
                <a:close/>
              </a:path>
            </a:pathLst>
          </a:custGeom>
          <a:ln w="10439">
            <a:solidFill>
              <a:srgbClr val="21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491" y="546607"/>
            <a:ext cx="6730365" cy="432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 dirty="0">
              <a:latin typeface="Cambria"/>
              <a:cs typeface="Cambria"/>
            </a:endParaRPr>
          </a:p>
          <a:p>
            <a:pPr marL="160655" indent="-147955">
              <a:lnSpc>
                <a:spcPct val="100000"/>
              </a:lnSpc>
              <a:spcBef>
                <a:spcPts val="1185"/>
              </a:spcBef>
              <a:buChar char="*"/>
              <a:tabLst>
                <a:tab pos="160655" algn="l"/>
              </a:tabLst>
            </a:pP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7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9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</a:t>
            </a:r>
            <a:endParaRPr sz="1600" dirty="0">
              <a:latin typeface="Arial"/>
              <a:cs typeface="Arial"/>
            </a:endParaRPr>
          </a:p>
          <a:p>
            <a:pPr marL="384175" lvl="1" indent="-152400">
              <a:lnSpc>
                <a:spcPts val="1410"/>
              </a:lnSpc>
              <a:spcBef>
                <a:spcPts val="1670"/>
              </a:spcBef>
              <a:buAutoNum type="arabicPeriod"/>
              <a:tabLst>
                <a:tab pos="384175" algn="l"/>
              </a:tabLst>
            </a:pPr>
            <a:r>
              <a:rPr sz="1200" b="1" dirty="0">
                <a:latin typeface="Times New Roman"/>
                <a:cs typeface="Times New Roman"/>
              </a:rPr>
              <a:t>Definition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Work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(PoW)</a:t>
            </a:r>
            <a:endParaRPr sz="1200" dirty="0">
              <a:latin typeface="Times New Roman"/>
              <a:cs typeface="Times New Roman"/>
            </a:endParaRPr>
          </a:p>
          <a:p>
            <a:pPr marL="231775" marR="83058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Proof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consensus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mechanism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complex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mathematical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puzzles </a:t>
            </a:r>
            <a:r>
              <a:rPr sz="1200" dirty="0">
                <a:latin typeface="Times New Roman"/>
                <a:cs typeface="Times New Roman"/>
              </a:rPr>
              <a:t>(hashing)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transactions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blocks.</a:t>
            </a:r>
            <a:endParaRPr sz="1200" dirty="0">
              <a:latin typeface="Times New Roman"/>
              <a:cs typeface="Times New Roman"/>
            </a:endParaRPr>
          </a:p>
          <a:p>
            <a:pPr marL="384175" lvl="1" indent="-152400">
              <a:lnSpc>
                <a:spcPts val="1410"/>
              </a:lnSpc>
              <a:spcBef>
                <a:spcPts val="1285"/>
              </a:spcBef>
              <a:buAutoNum type="arabicPeriod" startAt="2"/>
              <a:tabLst>
                <a:tab pos="384175" algn="l"/>
              </a:tabLst>
            </a:pPr>
            <a:r>
              <a:rPr sz="1200" b="1" dirty="0">
                <a:latin typeface="Times New Roman"/>
                <a:cs typeface="Times New Roman"/>
              </a:rPr>
              <a:t>Definition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Proof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Stake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(PoS)</a:t>
            </a:r>
            <a:endParaRPr sz="1200" dirty="0">
              <a:latin typeface="Times New Roman"/>
              <a:cs typeface="Times New Roman"/>
            </a:endParaRPr>
          </a:p>
          <a:p>
            <a:pPr marL="231775" marR="466725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Proof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consensus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mechanism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validators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blocks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coins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(lock)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network.</a:t>
            </a:r>
            <a:endParaRPr sz="1200" dirty="0">
              <a:latin typeface="Times New Roman"/>
              <a:cs typeface="Times New Roman"/>
            </a:endParaRPr>
          </a:p>
          <a:p>
            <a:pPr marL="384175" lvl="1" indent="-152400">
              <a:lnSpc>
                <a:spcPts val="1410"/>
              </a:lnSpc>
              <a:spcBef>
                <a:spcPts val="1280"/>
              </a:spcBef>
              <a:buAutoNum type="arabicPeriod" startAt="3"/>
              <a:tabLst>
                <a:tab pos="384175" algn="l"/>
              </a:tabLst>
            </a:pPr>
            <a:r>
              <a:rPr sz="1200" b="1" dirty="0">
                <a:latin typeface="Times New Roman"/>
                <a:cs typeface="Times New Roman"/>
              </a:rPr>
              <a:t>Working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Steps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PoW</a:t>
            </a:r>
            <a:endParaRPr sz="1200" dirty="0">
              <a:latin typeface="Times New Roman"/>
              <a:cs typeface="Times New Roman"/>
            </a:endParaRPr>
          </a:p>
          <a:p>
            <a:pPr marL="460375" indent="-228600">
              <a:lnSpc>
                <a:spcPts val="1380"/>
              </a:lnSpc>
              <a:buAutoNum type="arabicPeriod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Mining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compete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cryptographic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puzzle.</a:t>
            </a:r>
            <a:endParaRPr sz="1200" dirty="0">
              <a:latin typeface="Times New Roman"/>
              <a:cs typeface="Times New Roman"/>
            </a:endParaRPr>
          </a:p>
          <a:p>
            <a:pPr marL="461009" marR="514984" indent="-229235">
              <a:lnSpc>
                <a:spcPts val="1380"/>
              </a:lnSpc>
              <a:spcBef>
                <a:spcPts val="70"/>
              </a:spcBef>
              <a:buAutoNum type="arabicPeriod"/>
              <a:tabLst>
                <a:tab pos="461009" algn="l"/>
              </a:tabLst>
            </a:pPr>
            <a:r>
              <a:rPr sz="1200" dirty="0">
                <a:latin typeface="Times New Roman"/>
                <a:cs typeface="Times New Roman"/>
              </a:rPr>
              <a:t>Nonce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repeatedly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change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random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(nonce)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until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meets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difficulty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target.</a:t>
            </a:r>
            <a:endParaRPr sz="1200" dirty="0">
              <a:latin typeface="Times New Roman"/>
              <a:cs typeface="Times New Roman"/>
            </a:endParaRPr>
          </a:p>
          <a:p>
            <a:pPr marL="461009" marR="635000" indent="-229235">
              <a:lnSpc>
                <a:spcPts val="1380"/>
              </a:lnSpc>
              <a:buAutoNum type="arabicPeriod"/>
              <a:tabLst>
                <a:tab pos="461009" algn="l"/>
              </a:tabLst>
            </a:pP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first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broadcasts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nodes </a:t>
            </a:r>
            <a:r>
              <a:rPr sz="1200" dirty="0">
                <a:latin typeface="Times New Roman"/>
                <a:cs typeface="Times New Roman"/>
              </a:rPr>
              <a:t>verify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it.</a:t>
            </a:r>
            <a:endParaRPr sz="1200" dirty="0">
              <a:latin typeface="Times New Roman"/>
              <a:cs typeface="Times New Roman"/>
            </a:endParaRPr>
          </a:p>
          <a:p>
            <a:pPr marL="384175" indent="-152400">
              <a:lnSpc>
                <a:spcPts val="1410"/>
              </a:lnSpc>
              <a:spcBef>
                <a:spcPts val="1285"/>
              </a:spcBef>
              <a:buAutoNum type="arabicPeriod"/>
              <a:tabLst>
                <a:tab pos="384175" algn="l"/>
              </a:tabLst>
            </a:pPr>
            <a:r>
              <a:rPr sz="1200" b="1" dirty="0">
                <a:latin typeface="Times New Roman"/>
                <a:cs typeface="Times New Roman"/>
              </a:rPr>
              <a:t>Working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Steps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PoS</a:t>
            </a:r>
            <a:endParaRPr sz="1200" dirty="0">
              <a:latin typeface="Times New Roman"/>
              <a:cs typeface="Times New Roman"/>
            </a:endParaRPr>
          </a:p>
          <a:p>
            <a:pPr marL="460375" indent="-228600">
              <a:lnSpc>
                <a:spcPts val="1380"/>
              </a:lnSpc>
              <a:buAutoNum type="arabicPeriod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Validator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Validators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chosen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randomization.</a:t>
            </a:r>
            <a:endParaRPr sz="1200" dirty="0">
              <a:latin typeface="Times New Roman"/>
              <a:cs typeface="Times New Roman"/>
            </a:endParaRPr>
          </a:p>
          <a:p>
            <a:pPr marL="460375" indent="-228600">
              <a:lnSpc>
                <a:spcPts val="1380"/>
              </a:lnSpc>
              <a:buAutoNum type="arabicPeriod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Block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proposes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new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block.</a:t>
            </a:r>
            <a:endParaRPr sz="1200" dirty="0">
              <a:latin typeface="Times New Roman"/>
              <a:cs typeface="Times New Roman"/>
            </a:endParaRPr>
          </a:p>
          <a:p>
            <a:pPr marL="461009" marR="595630" indent="-229235">
              <a:lnSpc>
                <a:spcPts val="1380"/>
              </a:lnSpc>
              <a:spcBef>
                <a:spcPts val="65"/>
              </a:spcBef>
              <a:buAutoNum type="arabicPeriod"/>
              <a:tabLst>
                <a:tab pos="461009" algn="l"/>
              </a:tabLst>
            </a:pPr>
            <a:r>
              <a:rPr sz="1200" dirty="0">
                <a:latin typeface="Times New Roman"/>
                <a:cs typeface="Times New Roman"/>
              </a:rPr>
              <a:t>Finalization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validators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confirm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block;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approved,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spc="-10" dirty="0">
                <a:latin typeface="Times New Roman"/>
                <a:cs typeface="Times New Roman"/>
              </a:rPr>
              <a:t>blockchain.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718" y="6774547"/>
            <a:ext cx="3900551" cy="1384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41600" y="8321675"/>
            <a:ext cx="17081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(Comparison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Points)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186429" y="7263764"/>
            <a:ext cx="1275715" cy="144145"/>
            <a:chOff x="3186429" y="7263764"/>
            <a:chExt cx="1275715" cy="1441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6429" y="7263764"/>
              <a:ext cx="372592" cy="1436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399" y="7263764"/>
              <a:ext cx="349554" cy="14363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52112" y="7265923"/>
              <a:ext cx="128511" cy="1393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06926" y="726617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101473" y="115570"/>
                  </a:moveTo>
                  <a:lnTo>
                    <a:pt x="27051" y="115570"/>
                  </a:lnTo>
                  <a:lnTo>
                    <a:pt x="27051" y="77470"/>
                  </a:lnTo>
                  <a:lnTo>
                    <a:pt x="93980" y="77470"/>
                  </a:lnTo>
                  <a:lnTo>
                    <a:pt x="93980" y="54610"/>
                  </a:lnTo>
                  <a:lnTo>
                    <a:pt x="27051" y="54610"/>
                  </a:lnTo>
                  <a:lnTo>
                    <a:pt x="27051" y="24130"/>
                  </a:lnTo>
                  <a:lnTo>
                    <a:pt x="99060" y="24130"/>
                  </a:lnTo>
                  <a:lnTo>
                    <a:pt x="99060" y="0"/>
                  </a:lnTo>
                  <a:lnTo>
                    <a:pt x="0" y="0"/>
                  </a:lnTo>
                  <a:lnTo>
                    <a:pt x="0" y="24130"/>
                  </a:lnTo>
                  <a:lnTo>
                    <a:pt x="0" y="54610"/>
                  </a:lnTo>
                  <a:lnTo>
                    <a:pt x="0" y="77470"/>
                  </a:lnTo>
                  <a:lnTo>
                    <a:pt x="0" y="115570"/>
                  </a:lnTo>
                  <a:lnTo>
                    <a:pt x="0" y="139700"/>
                  </a:lnTo>
                  <a:lnTo>
                    <a:pt x="101473" y="139700"/>
                  </a:lnTo>
                  <a:lnTo>
                    <a:pt x="101473" y="11557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0750" y="7265669"/>
              <a:ext cx="231114" cy="1397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27145" y="9836150"/>
            <a:ext cx="375920" cy="103505"/>
            <a:chOff x="3827145" y="9836150"/>
            <a:chExt cx="375920" cy="10350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7145" y="9836150"/>
              <a:ext cx="307073" cy="10340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73474" y="9863708"/>
              <a:ext cx="29845" cy="74930"/>
            </a:xfrm>
            <a:custGeom>
              <a:avLst/>
              <a:gdLst/>
              <a:ahLst/>
              <a:cxnLst/>
              <a:rect l="l" t="t" r="r" b="b"/>
              <a:pathLst>
                <a:path w="29845" h="74929">
                  <a:moveTo>
                    <a:pt x="20193" y="55092"/>
                  </a:moveTo>
                  <a:lnTo>
                    <a:pt x="3175" y="55092"/>
                  </a:lnTo>
                  <a:lnTo>
                    <a:pt x="0" y="74409"/>
                  </a:lnTo>
                  <a:lnTo>
                    <a:pt x="15875" y="74409"/>
                  </a:lnTo>
                  <a:lnTo>
                    <a:pt x="20193" y="55092"/>
                  </a:lnTo>
                  <a:close/>
                </a:path>
                <a:path w="29845" h="74929">
                  <a:moveTo>
                    <a:pt x="29464" y="0"/>
                  </a:moveTo>
                  <a:lnTo>
                    <a:pt x="12954" y="0"/>
                  </a:lnTo>
                  <a:lnTo>
                    <a:pt x="9398" y="19659"/>
                  </a:lnTo>
                  <a:lnTo>
                    <a:pt x="25527" y="19659"/>
                  </a:lnTo>
                  <a:lnTo>
                    <a:pt x="29464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2608" y="552703"/>
            <a:ext cx="4614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baseline="-8680" dirty="0">
                <a:solidFill>
                  <a:srgbClr val="211E1F"/>
                </a:solidFill>
                <a:latin typeface="Arial"/>
                <a:cs typeface="Arial"/>
              </a:rPr>
              <a:t>*</a:t>
            </a:r>
            <a:r>
              <a:rPr sz="2400" b="1" spc="67" baseline="-86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Implementation</a:t>
            </a:r>
            <a:r>
              <a:rPr sz="1600" b="1" spc="-8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Phase:</a:t>
            </a:r>
            <a:r>
              <a:rPr sz="1600" b="1" spc="-8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11E1F"/>
                </a:solidFill>
                <a:latin typeface="Arial"/>
                <a:cs typeface="Arial"/>
              </a:rPr>
              <a:t>Final</a:t>
            </a:r>
            <a:r>
              <a:rPr sz="1600" b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Output</a:t>
            </a:r>
            <a:r>
              <a:rPr sz="1600" b="1" spc="-7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(no</a:t>
            </a:r>
            <a:r>
              <a:rPr sz="1600" b="1" spc="-9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11E1F"/>
                </a:solidFill>
                <a:latin typeface="Arial"/>
                <a:cs typeface="Arial"/>
              </a:rPr>
              <a:t>error)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6558" y="546607"/>
            <a:ext cx="186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Applied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and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1E1F"/>
                </a:solidFill>
                <a:latin typeface="Cambria"/>
                <a:cs typeface="Cambria"/>
              </a:rPr>
              <a:t>Action</a:t>
            </a:r>
            <a:r>
              <a:rPr sz="1200" spc="-50" dirty="0">
                <a:solidFill>
                  <a:srgbClr val="211E1F"/>
                </a:solidFill>
                <a:latin typeface="Cambria"/>
                <a:cs typeface="Cambria"/>
              </a:rPr>
              <a:t> </a:t>
            </a:r>
            <a:r>
              <a:rPr sz="1200" spc="-10" dirty="0">
                <a:solidFill>
                  <a:srgbClr val="211E1F"/>
                </a:solidFill>
                <a:latin typeface="Cambria"/>
                <a:cs typeface="Cambria"/>
              </a:rPr>
              <a:t>Learning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6880" y="5081396"/>
            <a:ext cx="1477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*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Observations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43483" y="7493253"/>
          <a:ext cx="6664958" cy="1762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1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7988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Rubrics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Concept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Planning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Execution/</a:t>
                      </a:r>
                      <a:endParaRPr sz="1050">
                        <a:latin typeface="Arial MT"/>
                        <a:cs typeface="Arial MT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Practical</a:t>
                      </a:r>
                      <a:r>
                        <a:rPr sz="1050" spc="-1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Simulation/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Programming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Interpretation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50" spc="-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Applied and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Action</a:t>
                      </a:r>
                      <a:r>
                        <a:rPr sz="1050" spc="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Learning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spc="-20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Viva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spc="-25" dirty="0">
                          <a:solidFill>
                            <a:srgbClr val="211E1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50" b="1" spc="-10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50" b="1" spc="-25" dirty="0">
                          <a:solidFill>
                            <a:srgbClr val="211E1F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11E1F"/>
                      </a:solidFill>
                      <a:prstDash val="solid"/>
                    </a:lnL>
                    <a:lnR w="12700">
                      <a:solidFill>
                        <a:srgbClr val="211E1F"/>
                      </a:solidFill>
                      <a:prstDash val="solid"/>
                    </a:lnR>
                    <a:lnT w="12700">
                      <a:solidFill>
                        <a:srgbClr val="211E1F"/>
                      </a:solidFill>
                      <a:prstDash val="solid"/>
                    </a:lnT>
                    <a:lnB w="12700">
                      <a:solidFill>
                        <a:srgbClr val="21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3824096" y="9527539"/>
            <a:ext cx="1807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Signature</a:t>
            </a:r>
            <a:r>
              <a:rPr sz="120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of</a:t>
            </a:r>
            <a:r>
              <a:rPr sz="1200" b="1" i="1" spc="-7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211E1F"/>
                </a:solidFill>
                <a:latin typeface="Arial"/>
                <a:cs typeface="Arial"/>
              </a:rPr>
              <a:t>the</a:t>
            </a:r>
            <a:r>
              <a:rPr sz="120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11E1F"/>
                </a:solidFill>
                <a:latin typeface="Arial"/>
                <a:cs typeface="Arial"/>
              </a:rPr>
              <a:t>Student: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072" y="9984739"/>
            <a:ext cx="17189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Signature</a:t>
            </a:r>
            <a:r>
              <a:rPr sz="1150" b="1" i="1" spc="-5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of</a:t>
            </a:r>
            <a:r>
              <a:rPr sz="1150" b="1" i="1" spc="-35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dirty="0">
                <a:solidFill>
                  <a:srgbClr val="211E1F"/>
                </a:solidFill>
                <a:latin typeface="Arial"/>
                <a:cs typeface="Arial"/>
              </a:rPr>
              <a:t>the</a:t>
            </a:r>
            <a:r>
              <a:rPr sz="1150" b="1" i="1" spc="-60" dirty="0">
                <a:solidFill>
                  <a:srgbClr val="211E1F"/>
                </a:solidFill>
                <a:latin typeface="Arial"/>
                <a:cs typeface="Arial"/>
              </a:rPr>
              <a:t> </a:t>
            </a:r>
            <a:r>
              <a:rPr sz="1150" b="1" i="1" spc="-10" dirty="0">
                <a:solidFill>
                  <a:srgbClr val="211E1F"/>
                </a:solidFill>
                <a:latin typeface="Arial"/>
                <a:cs typeface="Arial"/>
              </a:rPr>
              <a:t>Faculty: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84854" y="7549008"/>
            <a:ext cx="214604" cy="11175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6380" y="7549008"/>
            <a:ext cx="312115" cy="11175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29404" y="7546641"/>
            <a:ext cx="967739" cy="11425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25159" y="7549008"/>
            <a:ext cx="548779" cy="11175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9089" y="1125854"/>
            <a:ext cx="6478905" cy="2365375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38289" y="940942"/>
            <a:ext cx="6661150" cy="3990975"/>
          </a:xfrm>
          <a:prstGeom prst="rect">
            <a:avLst/>
          </a:prstGeom>
          <a:ln w="10439">
            <a:solidFill>
              <a:srgbClr val="211E1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4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241300">
              <a:lnSpc>
                <a:spcPts val="1405"/>
              </a:lnSpc>
              <a:spcBef>
                <a:spcPts val="150"/>
              </a:spcBef>
            </a:pPr>
            <a:r>
              <a:rPr sz="1200" spc="-10" dirty="0">
                <a:latin typeface="Times New Roman"/>
                <a:cs typeface="Times New Roman"/>
              </a:rPr>
              <a:t>Summarize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differences.</a:t>
            </a:r>
            <a:endParaRPr sz="1200">
              <a:latin typeface="Times New Roman"/>
              <a:cs typeface="Times New Roman"/>
            </a:endParaRPr>
          </a:p>
          <a:p>
            <a:pPr marL="241300" marR="118745">
              <a:lnSpc>
                <a:spcPts val="133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strong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security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offers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efficiency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lower environmental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impact.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26509" y="10068852"/>
            <a:ext cx="523240" cy="132715"/>
            <a:chOff x="3826509" y="10068852"/>
            <a:chExt cx="523240" cy="132715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6509" y="10068852"/>
              <a:ext cx="306717" cy="1321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76775" y="10068853"/>
              <a:ext cx="172796" cy="104037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396105" y="10096791"/>
            <a:ext cx="29845" cy="74930"/>
          </a:xfrm>
          <a:custGeom>
            <a:avLst/>
            <a:gdLst/>
            <a:ahLst/>
            <a:cxnLst/>
            <a:rect l="l" t="t" r="r" b="b"/>
            <a:pathLst>
              <a:path w="29845" h="74929">
                <a:moveTo>
                  <a:pt x="19431" y="54356"/>
                </a:moveTo>
                <a:lnTo>
                  <a:pt x="2921" y="54356"/>
                </a:lnTo>
                <a:lnTo>
                  <a:pt x="0" y="74879"/>
                </a:lnTo>
                <a:lnTo>
                  <a:pt x="16256" y="74879"/>
                </a:lnTo>
                <a:lnTo>
                  <a:pt x="19431" y="54356"/>
                </a:lnTo>
                <a:close/>
              </a:path>
              <a:path w="29845" h="74929">
                <a:moveTo>
                  <a:pt x="29464" y="0"/>
                </a:moveTo>
                <a:lnTo>
                  <a:pt x="12192" y="0"/>
                </a:lnTo>
                <a:lnTo>
                  <a:pt x="9398" y="18719"/>
                </a:lnTo>
                <a:lnTo>
                  <a:pt x="26289" y="18719"/>
                </a:lnTo>
                <a:lnTo>
                  <a:pt x="29464" y="0"/>
                </a:lnTo>
                <a:close/>
              </a:path>
            </a:pathLst>
          </a:custGeom>
          <a:solidFill>
            <a:srgbClr val="211E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6242050" y="9941216"/>
            <a:ext cx="921385" cy="197485"/>
            <a:chOff x="6242050" y="9941216"/>
            <a:chExt cx="921385" cy="197485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42050" y="9941216"/>
              <a:ext cx="587463" cy="19691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40347" y="10089527"/>
              <a:ext cx="323215" cy="18415"/>
            </a:xfrm>
            <a:custGeom>
              <a:avLst/>
              <a:gdLst/>
              <a:ahLst/>
              <a:cxnLst/>
              <a:rect l="l" t="t" r="r" b="b"/>
              <a:pathLst>
                <a:path w="323215" h="18415">
                  <a:moveTo>
                    <a:pt x="14020" y="0"/>
                  </a:moveTo>
                  <a:lnTo>
                    <a:pt x="0" y="0"/>
                  </a:lnTo>
                  <a:lnTo>
                    <a:pt x="0" y="18364"/>
                  </a:lnTo>
                  <a:lnTo>
                    <a:pt x="14020" y="18364"/>
                  </a:lnTo>
                  <a:lnTo>
                    <a:pt x="14020" y="0"/>
                  </a:lnTo>
                  <a:close/>
                </a:path>
                <a:path w="323215" h="18415">
                  <a:moveTo>
                    <a:pt x="45237" y="0"/>
                  </a:moveTo>
                  <a:lnTo>
                    <a:pt x="30861" y="0"/>
                  </a:lnTo>
                  <a:lnTo>
                    <a:pt x="30861" y="18364"/>
                  </a:lnTo>
                  <a:lnTo>
                    <a:pt x="45237" y="18364"/>
                  </a:lnTo>
                  <a:lnTo>
                    <a:pt x="45237" y="0"/>
                  </a:lnTo>
                  <a:close/>
                </a:path>
                <a:path w="323215" h="18415">
                  <a:moveTo>
                    <a:pt x="71234" y="0"/>
                  </a:moveTo>
                  <a:lnTo>
                    <a:pt x="56134" y="0"/>
                  </a:lnTo>
                  <a:lnTo>
                    <a:pt x="56134" y="18364"/>
                  </a:lnTo>
                  <a:lnTo>
                    <a:pt x="71234" y="18364"/>
                  </a:lnTo>
                  <a:lnTo>
                    <a:pt x="71234" y="0"/>
                  </a:lnTo>
                  <a:close/>
                </a:path>
                <a:path w="323215" h="18415">
                  <a:moveTo>
                    <a:pt x="97142" y="0"/>
                  </a:moveTo>
                  <a:lnTo>
                    <a:pt x="82042" y="0"/>
                  </a:lnTo>
                  <a:lnTo>
                    <a:pt x="82042" y="18364"/>
                  </a:lnTo>
                  <a:lnTo>
                    <a:pt x="97142" y="18364"/>
                  </a:lnTo>
                  <a:lnTo>
                    <a:pt x="97142" y="0"/>
                  </a:lnTo>
                  <a:close/>
                </a:path>
                <a:path w="323215" h="18415">
                  <a:moveTo>
                    <a:pt x="120789" y="0"/>
                  </a:moveTo>
                  <a:lnTo>
                    <a:pt x="106045" y="0"/>
                  </a:lnTo>
                  <a:lnTo>
                    <a:pt x="106045" y="18364"/>
                  </a:lnTo>
                  <a:lnTo>
                    <a:pt x="120789" y="18364"/>
                  </a:lnTo>
                  <a:lnTo>
                    <a:pt x="120789" y="0"/>
                  </a:lnTo>
                  <a:close/>
                </a:path>
                <a:path w="323215" h="18415">
                  <a:moveTo>
                    <a:pt x="144894" y="0"/>
                  </a:moveTo>
                  <a:lnTo>
                    <a:pt x="129794" y="0"/>
                  </a:lnTo>
                  <a:lnTo>
                    <a:pt x="129794" y="18364"/>
                  </a:lnTo>
                  <a:lnTo>
                    <a:pt x="144894" y="18364"/>
                  </a:lnTo>
                  <a:lnTo>
                    <a:pt x="144894" y="0"/>
                  </a:lnTo>
                  <a:close/>
                </a:path>
                <a:path w="323215" h="18415">
                  <a:moveTo>
                    <a:pt x="166509" y="0"/>
                  </a:moveTo>
                  <a:lnTo>
                    <a:pt x="151765" y="0"/>
                  </a:lnTo>
                  <a:lnTo>
                    <a:pt x="151765" y="18364"/>
                  </a:lnTo>
                  <a:lnTo>
                    <a:pt x="166509" y="18364"/>
                  </a:lnTo>
                  <a:lnTo>
                    <a:pt x="166509" y="0"/>
                  </a:lnTo>
                  <a:close/>
                </a:path>
                <a:path w="323215" h="18415">
                  <a:moveTo>
                    <a:pt x="192455" y="0"/>
                  </a:moveTo>
                  <a:lnTo>
                    <a:pt x="178435" y="0"/>
                  </a:lnTo>
                  <a:lnTo>
                    <a:pt x="178435" y="18364"/>
                  </a:lnTo>
                  <a:lnTo>
                    <a:pt x="192455" y="18364"/>
                  </a:lnTo>
                  <a:lnTo>
                    <a:pt x="192455" y="0"/>
                  </a:lnTo>
                  <a:close/>
                </a:path>
                <a:path w="323215" h="18415">
                  <a:moveTo>
                    <a:pt x="223697" y="0"/>
                  </a:moveTo>
                  <a:lnTo>
                    <a:pt x="209677" y="0"/>
                  </a:lnTo>
                  <a:lnTo>
                    <a:pt x="209677" y="18364"/>
                  </a:lnTo>
                  <a:lnTo>
                    <a:pt x="223697" y="18364"/>
                  </a:lnTo>
                  <a:lnTo>
                    <a:pt x="223697" y="0"/>
                  </a:lnTo>
                  <a:close/>
                </a:path>
                <a:path w="323215" h="18415">
                  <a:moveTo>
                    <a:pt x="249567" y="0"/>
                  </a:moveTo>
                  <a:lnTo>
                    <a:pt x="234823" y="0"/>
                  </a:lnTo>
                  <a:lnTo>
                    <a:pt x="234823" y="18364"/>
                  </a:lnTo>
                  <a:lnTo>
                    <a:pt x="249567" y="18364"/>
                  </a:lnTo>
                  <a:lnTo>
                    <a:pt x="249567" y="0"/>
                  </a:lnTo>
                  <a:close/>
                </a:path>
                <a:path w="323215" h="18415">
                  <a:moveTo>
                    <a:pt x="275475" y="0"/>
                  </a:moveTo>
                  <a:lnTo>
                    <a:pt x="260731" y="0"/>
                  </a:lnTo>
                  <a:lnTo>
                    <a:pt x="260731" y="18364"/>
                  </a:lnTo>
                  <a:lnTo>
                    <a:pt x="275475" y="18364"/>
                  </a:lnTo>
                  <a:lnTo>
                    <a:pt x="275475" y="0"/>
                  </a:lnTo>
                  <a:close/>
                </a:path>
                <a:path w="323215" h="18415">
                  <a:moveTo>
                    <a:pt x="299580" y="0"/>
                  </a:moveTo>
                  <a:lnTo>
                    <a:pt x="284480" y="0"/>
                  </a:lnTo>
                  <a:lnTo>
                    <a:pt x="284480" y="18364"/>
                  </a:lnTo>
                  <a:lnTo>
                    <a:pt x="299580" y="18364"/>
                  </a:lnTo>
                  <a:lnTo>
                    <a:pt x="299580" y="0"/>
                  </a:lnTo>
                  <a:close/>
                </a:path>
                <a:path w="323215" h="18415">
                  <a:moveTo>
                    <a:pt x="322630" y="0"/>
                  </a:moveTo>
                  <a:lnTo>
                    <a:pt x="308610" y="0"/>
                  </a:lnTo>
                  <a:lnTo>
                    <a:pt x="308610" y="18364"/>
                  </a:lnTo>
                  <a:lnTo>
                    <a:pt x="322630" y="18364"/>
                  </a:lnTo>
                  <a:lnTo>
                    <a:pt x="322630" y="0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70"/>
              </a:lnSpc>
            </a:pPr>
            <a:r>
              <a:rPr sz="2400" i="0" baseline="-13888" dirty="0">
                <a:latin typeface="Arial"/>
                <a:cs typeface="Arial"/>
              </a:rPr>
              <a:t>*</a:t>
            </a:r>
            <a:r>
              <a:rPr sz="800" dirty="0"/>
              <a:t>As</a:t>
            </a:r>
            <a:r>
              <a:rPr sz="800" spc="-25" dirty="0"/>
              <a:t> </a:t>
            </a:r>
            <a:r>
              <a:rPr sz="800" dirty="0"/>
              <a:t>applicable</a:t>
            </a:r>
            <a:r>
              <a:rPr sz="800" spc="-25" dirty="0"/>
              <a:t> </a:t>
            </a:r>
            <a:r>
              <a:rPr sz="800" dirty="0"/>
              <a:t>according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the</a:t>
            </a:r>
            <a:r>
              <a:rPr sz="800" spc="-30" dirty="0"/>
              <a:t> </a:t>
            </a:r>
            <a:r>
              <a:rPr sz="800" spc="-10" dirty="0"/>
              <a:t>experiment.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Two</a:t>
            </a:r>
            <a:r>
              <a:rPr spc="-10" dirty="0"/>
              <a:t> sheets</a:t>
            </a:r>
            <a:r>
              <a:rPr spc="-5" dirty="0"/>
              <a:t> </a:t>
            </a:r>
            <a:r>
              <a:rPr dirty="0"/>
              <a:t>per</a:t>
            </a:r>
            <a:r>
              <a:rPr spc="5" dirty="0"/>
              <a:t> </a:t>
            </a:r>
            <a:r>
              <a:rPr spc="-10" dirty="0"/>
              <a:t>experiment</a:t>
            </a:r>
            <a:r>
              <a:rPr spc="-5" dirty="0"/>
              <a:t> </a:t>
            </a:r>
            <a:r>
              <a:rPr spc="-10" dirty="0"/>
              <a:t>(10-</a:t>
            </a:r>
            <a:r>
              <a:rPr dirty="0"/>
              <a:t>20)</a:t>
            </a:r>
            <a:r>
              <a:rPr spc="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20" dirty="0"/>
              <a:t>used.</a:t>
            </a: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A16788AD-895D-FA20-532C-3A79CD6FC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" y="5635645"/>
            <a:ext cx="67087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consumes high energy;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energy-efficient.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miners;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validators.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relies on computational power to validate blocks, while     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depends on the amount of cryptocurrency staked.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702074-A050-0988-D771-C1B0B7AAD75C}"/>
              </a:ext>
            </a:extLst>
          </p:cNvPr>
          <p:cNvSpPr/>
          <p:nvPr/>
        </p:nvSpPr>
        <p:spPr>
          <a:xfrm>
            <a:off x="436880" y="5578475"/>
            <a:ext cx="6661150" cy="141312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519</Words>
  <Application>Microsoft Office PowerPoint</Application>
  <PresentationFormat>Custom</PresentationFormat>
  <Paragraphs>75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Subash Pradhan</dc:creator>
  <cp:lastModifiedBy>Subash Pradhan</cp:lastModifiedBy>
  <cp:revision>1</cp:revision>
  <dcterms:created xsi:type="dcterms:W3CDTF">2025-10-31T17:16:59Z</dcterms:created>
  <dcterms:modified xsi:type="dcterms:W3CDTF">2025-10-31T19:01:57Z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2025-08-20T00:00:00Z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2025-10-31T00:00:00Z</vt:filetime>
  </property>
  <property fmtid="{D5CDD505-2E9C-101B-9397-08002B2CF9AE}" pid="5" name="Producer">
    <vt:lpwstr>Microsoft® Word LTSC</vt:lpwstr>
  </property>
</Properties>
</file>