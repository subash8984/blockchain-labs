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2050" y="9953625"/>
            <a:ext cx="587463" cy="19691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40347" y="10101948"/>
            <a:ext cx="323215" cy="18415"/>
          </a:xfrm>
          <a:custGeom>
            <a:avLst/>
            <a:gdLst/>
            <a:ahLst/>
            <a:cxnLst/>
            <a:rect l="l" t="t" r="r" b="b"/>
            <a:pathLst>
              <a:path w="323215" h="18415">
                <a:moveTo>
                  <a:pt x="14020" y="0"/>
                </a:moveTo>
                <a:lnTo>
                  <a:pt x="0" y="0"/>
                </a:lnTo>
                <a:lnTo>
                  <a:pt x="0" y="18351"/>
                </a:lnTo>
                <a:lnTo>
                  <a:pt x="14020" y="18351"/>
                </a:lnTo>
                <a:lnTo>
                  <a:pt x="14020" y="0"/>
                </a:lnTo>
                <a:close/>
              </a:path>
              <a:path w="323215" h="18415">
                <a:moveTo>
                  <a:pt x="45237" y="0"/>
                </a:moveTo>
                <a:lnTo>
                  <a:pt x="30861" y="0"/>
                </a:lnTo>
                <a:lnTo>
                  <a:pt x="30861" y="18351"/>
                </a:lnTo>
                <a:lnTo>
                  <a:pt x="45237" y="18351"/>
                </a:lnTo>
                <a:lnTo>
                  <a:pt x="45237" y="0"/>
                </a:lnTo>
                <a:close/>
              </a:path>
              <a:path w="323215" h="18415">
                <a:moveTo>
                  <a:pt x="71234" y="0"/>
                </a:moveTo>
                <a:lnTo>
                  <a:pt x="56134" y="0"/>
                </a:lnTo>
                <a:lnTo>
                  <a:pt x="56134" y="18351"/>
                </a:lnTo>
                <a:lnTo>
                  <a:pt x="71234" y="18351"/>
                </a:lnTo>
                <a:lnTo>
                  <a:pt x="71234" y="0"/>
                </a:lnTo>
                <a:close/>
              </a:path>
              <a:path w="323215" h="18415">
                <a:moveTo>
                  <a:pt x="97142" y="0"/>
                </a:moveTo>
                <a:lnTo>
                  <a:pt x="82042" y="0"/>
                </a:lnTo>
                <a:lnTo>
                  <a:pt x="82042" y="18351"/>
                </a:lnTo>
                <a:lnTo>
                  <a:pt x="97142" y="18351"/>
                </a:lnTo>
                <a:lnTo>
                  <a:pt x="97142" y="0"/>
                </a:lnTo>
                <a:close/>
              </a:path>
              <a:path w="323215" h="18415">
                <a:moveTo>
                  <a:pt x="120789" y="0"/>
                </a:moveTo>
                <a:lnTo>
                  <a:pt x="106045" y="0"/>
                </a:lnTo>
                <a:lnTo>
                  <a:pt x="106045" y="18351"/>
                </a:lnTo>
                <a:lnTo>
                  <a:pt x="120789" y="18351"/>
                </a:lnTo>
                <a:lnTo>
                  <a:pt x="120789" y="0"/>
                </a:lnTo>
                <a:close/>
              </a:path>
              <a:path w="323215" h="18415">
                <a:moveTo>
                  <a:pt x="144894" y="0"/>
                </a:moveTo>
                <a:lnTo>
                  <a:pt x="129794" y="0"/>
                </a:lnTo>
                <a:lnTo>
                  <a:pt x="129794" y="18351"/>
                </a:lnTo>
                <a:lnTo>
                  <a:pt x="144894" y="18351"/>
                </a:lnTo>
                <a:lnTo>
                  <a:pt x="144894" y="0"/>
                </a:lnTo>
                <a:close/>
              </a:path>
              <a:path w="323215" h="18415">
                <a:moveTo>
                  <a:pt x="166509" y="0"/>
                </a:moveTo>
                <a:lnTo>
                  <a:pt x="151765" y="0"/>
                </a:lnTo>
                <a:lnTo>
                  <a:pt x="151765" y="18351"/>
                </a:lnTo>
                <a:lnTo>
                  <a:pt x="166509" y="18351"/>
                </a:lnTo>
                <a:lnTo>
                  <a:pt x="166509" y="0"/>
                </a:lnTo>
                <a:close/>
              </a:path>
              <a:path w="323215" h="18415">
                <a:moveTo>
                  <a:pt x="192455" y="0"/>
                </a:moveTo>
                <a:lnTo>
                  <a:pt x="178435" y="0"/>
                </a:lnTo>
                <a:lnTo>
                  <a:pt x="178435" y="18351"/>
                </a:lnTo>
                <a:lnTo>
                  <a:pt x="192455" y="18351"/>
                </a:lnTo>
                <a:lnTo>
                  <a:pt x="192455" y="0"/>
                </a:lnTo>
                <a:close/>
              </a:path>
              <a:path w="323215" h="18415">
                <a:moveTo>
                  <a:pt x="223697" y="0"/>
                </a:moveTo>
                <a:lnTo>
                  <a:pt x="209677" y="0"/>
                </a:lnTo>
                <a:lnTo>
                  <a:pt x="209677" y="18351"/>
                </a:lnTo>
                <a:lnTo>
                  <a:pt x="223697" y="18351"/>
                </a:lnTo>
                <a:lnTo>
                  <a:pt x="223697" y="0"/>
                </a:lnTo>
                <a:close/>
              </a:path>
              <a:path w="323215" h="18415">
                <a:moveTo>
                  <a:pt x="249567" y="0"/>
                </a:moveTo>
                <a:lnTo>
                  <a:pt x="234823" y="0"/>
                </a:lnTo>
                <a:lnTo>
                  <a:pt x="234823" y="18351"/>
                </a:lnTo>
                <a:lnTo>
                  <a:pt x="249567" y="18351"/>
                </a:lnTo>
                <a:lnTo>
                  <a:pt x="249567" y="0"/>
                </a:lnTo>
                <a:close/>
              </a:path>
              <a:path w="323215" h="18415">
                <a:moveTo>
                  <a:pt x="275475" y="0"/>
                </a:moveTo>
                <a:lnTo>
                  <a:pt x="260731" y="0"/>
                </a:lnTo>
                <a:lnTo>
                  <a:pt x="260731" y="18351"/>
                </a:lnTo>
                <a:lnTo>
                  <a:pt x="275475" y="18351"/>
                </a:lnTo>
                <a:lnTo>
                  <a:pt x="275475" y="0"/>
                </a:lnTo>
                <a:close/>
              </a:path>
              <a:path w="323215" h="18415">
                <a:moveTo>
                  <a:pt x="299580" y="0"/>
                </a:moveTo>
                <a:lnTo>
                  <a:pt x="284480" y="0"/>
                </a:lnTo>
                <a:lnTo>
                  <a:pt x="284480" y="18351"/>
                </a:lnTo>
                <a:lnTo>
                  <a:pt x="299580" y="18351"/>
                </a:lnTo>
                <a:lnTo>
                  <a:pt x="299580" y="0"/>
                </a:lnTo>
                <a:close/>
              </a:path>
              <a:path w="323215" h="18415">
                <a:moveTo>
                  <a:pt x="322630" y="0"/>
                </a:moveTo>
                <a:lnTo>
                  <a:pt x="308610" y="0"/>
                </a:lnTo>
                <a:lnTo>
                  <a:pt x="308610" y="18351"/>
                </a:lnTo>
                <a:lnTo>
                  <a:pt x="322630" y="18351"/>
                </a:lnTo>
                <a:lnTo>
                  <a:pt x="322630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42713" y="10151767"/>
            <a:ext cx="2166620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6914" y="10299212"/>
            <a:ext cx="22472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11" Type="http://schemas.openxmlformats.org/officeDocument/2006/relationships/image" Target="../media/image26.jp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6880" y="7584185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582" y="509879"/>
            <a:ext cx="533463" cy="9075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833" y="2252725"/>
            <a:ext cx="1827911" cy="1414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1347" y="2176315"/>
            <a:ext cx="5242560" cy="5289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977389">
              <a:lnSpc>
                <a:spcPct val="100000"/>
              </a:lnSpc>
              <a:spcBef>
                <a:spcPts val="360"/>
              </a:spcBef>
            </a:pPr>
            <a:r>
              <a:rPr sz="1200" dirty="0">
                <a:latin typeface="Times New Roman"/>
                <a:cs typeface="Times New Roman"/>
              </a:rPr>
              <a:t>ECDSA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Workshop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Digital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Signatures</a:t>
            </a:r>
            <a:r>
              <a:rPr sz="1200" spc="-20" dirty="0">
                <a:latin typeface="Times New Roman"/>
                <a:cs typeface="Times New Roman"/>
              </a:rPr>
              <a:t> Demo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1600" b="1" spc="114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Coding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2400" b="1" spc="-120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Pseudo</a:t>
            </a:r>
            <a:r>
              <a:rPr sz="2400" b="1" spc="-9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Code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89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Flow</a:t>
            </a:r>
            <a:r>
              <a:rPr sz="2400" b="1" spc="-12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Chart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9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spc="-15" baseline="3472" dirty="0">
                <a:solidFill>
                  <a:srgbClr val="211E1F"/>
                </a:solidFill>
                <a:latin typeface="Arial"/>
                <a:cs typeface="Arial"/>
              </a:rPr>
              <a:t>Algorithm</a:t>
            </a:r>
            <a:endParaRPr sz="2400" baseline="3472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70607" y="1756930"/>
            <a:ext cx="824865" cy="211454"/>
            <a:chOff x="2570607" y="1756930"/>
            <a:chExt cx="824865" cy="211454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0607" y="1756930"/>
              <a:ext cx="297688" cy="2113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0647" y="1799043"/>
              <a:ext cx="116980" cy="1692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31744" y="1756955"/>
              <a:ext cx="95885" cy="166370"/>
            </a:xfrm>
            <a:custGeom>
              <a:avLst/>
              <a:gdLst/>
              <a:ahLst/>
              <a:cxnLst/>
              <a:rect l="l" t="t" r="r" b="b"/>
              <a:pathLst>
                <a:path w="95885" h="166369">
                  <a:moveTo>
                    <a:pt x="31661" y="0"/>
                  </a:moveTo>
                  <a:lnTo>
                    <a:pt x="0" y="0"/>
                  </a:lnTo>
                  <a:lnTo>
                    <a:pt x="0" y="165950"/>
                  </a:lnTo>
                  <a:lnTo>
                    <a:pt x="31661" y="165950"/>
                  </a:lnTo>
                  <a:lnTo>
                    <a:pt x="31661" y="0"/>
                  </a:lnTo>
                  <a:close/>
                </a:path>
                <a:path w="95885" h="166369">
                  <a:moveTo>
                    <a:pt x="95415" y="45008"/>
                  </a:moveTo>
                  <a:lnTo>
                    <a:pt x="63754" y="45008"/>
                  </a:lnTo>
                  <a:lnTo>
                    <a:pt x="63754" y="165950"/>
                  </a:lnTo>
                  <a:lnTo>
                    <a:pt x="95415" y="165950"/>
                  </a:lnTo>
                  <a:lnTo>
                    <a:pt x="95415" y="45008"/>
                  </a:lnTo>
                  <a:close/>
                </a:path>
                <a:path w="95885" h="166369">
                  <a:moveTo>
                    <a:pt x="95415" y="12"/>
                  </a:moveTo>
                  <a:lnTo>
                    <a:pt x="63754" y="12"/>
                  </a:lnTo>
                  <a:lnTo>
                    <a:pt x="63754" y="28790"/>
                  </a:lnTo>
                  <a:lnTo>
                    <a:pt x="95415" y="28790"/>
                  </a:lnTo>
                  <a:lnTo>
                    <a:pt x="95415" y="12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9473" y="1756993"/>
              <a:ext cx="245490" cy="16883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481070" y="1756993"/>
            <a:ext cx="384810" cy="168910"/>
            <a:chOff x="3481070" y="1756993"/>
            <a:chExt cx="384810" cy="16891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1070" y="1799108"/>
              <a:ext cx="111471" cy="1267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6071" y="1799070"/>
              <a:ext cx="108344" cy="1238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8913" y="1756993"/>
              <a:ext cx="116908" cy="16883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933825" y="1756993"/>
            <a:ext cx="696595" cy="168910"/>
            <a:chOff x="3933825" y="1756993"/>
            <a:chExt cx="696595" cy="16891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3825" y="1756993"/>
              <a:ext cx="417195" cy="1688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5150" y="1799108"/>
              <a:ext cx="123101" cy="12671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1708" y="1799070"/>
              <a:ext cx="108701" cy="123836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725796" y="1756957"/>
            <a:ext cx="934719" cy="214629"/>
            <a:chOff x="4725796" y="1756957"/>
            <a:chExt cx="934719" cy="214629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5796" y="1758378"/>
              <a:ext cx="369315" cy="1674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7464" y="1799070"/>
              <a:ext cx="198691" cy="12383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47081" y="1756968"/>
              <a:ext cx="32384" cy="166370"/>
            </a:xfrm>
            <a:custGeom>
              <a:avLst/>
              <a:gdLst/>
              <a:ahLst/>
              <a:cxnLst/>
              <a:rect l="l" t="t" r="r" b="b"/>
              <a:pathLst>
                <a:path w="32385" h="166369">
                  <a:moveTo>
                    <a:pt x="32385" y="44996"/>
                  </a:moveTo>
                  <a:lnTo>
                    <a:pt x="0" y="44996"/>
                  </a:lnTo>
                  <a:lnTo>
                    <a:pt x="0" y="165938"/>
                  </a:lnTo>
                  <a:lnTo>
                    <a:pt x="32385" y="165938"/>
                  </a:lnTo>
                  <a:lnTo>
                    <a:pt x="32385" y="44996"/>
                  </a:lnTo>
                  <a:close/>
                </a:path>
                <a:path w="32385" h="166369">
                  <a:moveTo>
                    <a:pt x="32385" y="0"/>
                  </a:moveTo>
                  <a:lnTo>
                    <a:pt x="0" y="0"/>
                  </a:lnTo>
                  <a:lnTo>
                    <a:pt x="0" y="28778"/>
                  </a:lnTo>
                  <a:lnTo>
                    <a:pt x="32385" y="2877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453" y="1799070"/>
              <a:ext cx="109424" cy="1238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3295" y="1799081"/>
              <a:ext cx="116624" cy="17208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19874" y="462406"/>
            <a:ext cx="6697980" cy="168592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868044">
              <a:lnSpc>
                <a:spcPct val="100000"/>
              </a:lnSpc>
              <a:spcBef>
                <a:spcPts val="850"/>
              </a:spcBef>
            </a:pP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School: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.............................................................................................................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Campus: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</a:t>
            </a:r>
            <a:endParaRPr sz="1100">
              <a:latin typeface="Cambria"/>
              <a:cs typeface="Cambria"/>
            </a:endParaRPr>
          </a:p>
          <a:p>
            <a:pPr marL="868044">
              <a:lnSpc>
                <a:spcPct val="100000"/>
              </a:lnSpc>
              <a:spcBef>
                <a:spcPts val="1260"/>
              </a:spcBef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Academic</a:t>
            </a:r>
            <a:r>
              <a:rPr sz="1100" spc="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Year:</a:t>
            </a:r>
            <a:r>
              <a:rPr sz="1100" spc="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</a:t>
            </a:r>
            <a:r>
              <a:rPr sz="1100" spc="5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Name:</a:t>
            </a:r>
            <a:r>
              <a:rPr sz="1100" spc="5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</a:t>
            </a:r>
            <a:r>
              <a:rPr sz="1100" spc="6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Code: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</a:t>
            </a:r>
            <a:endParaRPr sz="1100">
              <a:latin typeface="Cambria"/>
              <a:cs typeface="Cambria"/>
            </a:endParaRPr>
          </a:p>
          <a:p>
            <a:pPr marL="868044" marR="49530">
              <a:lnSpc>
                <a:spcPct val="195500"/>
              </a:lnSpc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Semester: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...............</a:t>
            </a:r>
            <a:r>
              <a:rPr sz="1100" spc="2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Program:</a:t>
            </a:r>
            <a:r>
              <a:rPr sz="1100" spc="-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</a:t>
            </a:r>
            <a:r>
              <a:rPr sz="1100" spc="1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Branch: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.........................</a:t>
            </a:r>
            <a:r>
              <a:rPr sz="1100" spc="26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Specialization: ..........................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Date:</a:t>
            </a:r>
            <a:r>
              <a:rPr sz="1100" spc="-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Cambria"/>
              <a:cs typeface="Cambria"/>
            </a:endParaRPr>
          </a:p>
          <a:p>
            <a:pPr marL="2566035">
              <a:lnSpc>
                <a:spcPct val="100000"/>
              </a:lnSpc>
            </a:pP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(Learning</a:t>
            </a:r>
            <a:r>
              <a:rPr sz="1200" spc="-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by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Doing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2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Discovery)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46A153E6-34CA-48A1-55E5-DCE03B2EC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13" y="3315905"/>
            <a:ext cx="675170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the concept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ECDSA (Elliptic Curve Digital Signature Algorithm)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how it ensures transaction authenticity.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key and public key generation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how the public key is mathematically derived from the private key using elliptic curve multiplication.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signature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how a transaction is signed with a private key and verified with a public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 how ECDSA secures Bitcoin transactions by allowing others to verify ownership without revealing the private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notes on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form of ECDSA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in Bitcoin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 steps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C50AE2-EB16-C1A8-34C4-38F543DCDBCF}"/>
              </a:ext>
            </a:extLst>
          </p:cNvPr>
          <p:cNvSpPr/>
          <p:nvPr/>
        </p:nvSpPr>
        <p:spPr>
          <a:xfrm>
            <a:off x="371347" y="2733254"/>
            <a:ext cx="6902832" cy="463622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4597A7-9CF3-1C57-FFA8-4F74611E5727}"/>
              </a:ext>
            </a:extLst>
          </p:cNvPr>
          <p:cNvSpPr txBox="1"/>
          <p:nvPr/>
        </p:nvSpPr>
        <p:spPr>
          <a:xfrm>
            <a:off x="419874" y="2911475"/>
            <a:ext cx="232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ALGORITHMS: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51A583-B14F-35D2-9089-DFCCE904B58F}"/>
              </a:ext>
            </a:extLst>
          </p:cNvPr>
          <p:cNvSpPr/>
          <p:nvPr/>
        </p:nvSpPr>
        <p:spPr>
          <a:xfrm>
            <a:off x="371346" y="7883905"/>
            <a:ext cx="6994653" cy="196177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D941BF-101B-7701-0B39-47B462EC17E6}"/>
              </a:ext>
            </a:extLst>
          </p:cNvPr>
          <p:cNvSpPr txBox="1"/>
          <p:nvPr/>
        </p:nvSpPr>
        <p:spPr>
          <a:xfrm>
            <a:off x="546582" y="8093075"/>
            <a:ext cx="6133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80491" y="558800"/>
            <a:ext cx="6710680" cy="880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2400" b="1" baseline="1736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2400" b="1" spc="120" baseline="1736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9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error)</a:t>
            </a:r>
            <a:endParaRPr sz="1600" dirty="0">
              <a:latin typeface="Arial"/>
              <a:cs typeface="Arial"/>
            </a:endParaRPr>
          </a:p>
          <a:p>
            <a:pPr marL="68580">
              <a:lnSpc>
                <a:spcPts val="1655"/>
              </a:lnSpc>
              <a:spcBef>
                <a:spcPts val="61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036A38-042D-E8BF-29EB-1F16420C8ABA}"/>
              </a:ext>
            </a:extLst>
          </p:cNvPr>
          <p:cNvSpPr/>
          <p:nvPr/>
        </p:nvSpPr>
        <p:spPr>
          <a:xfrm>
            <a:off x="380491" y="1438977"/>
            <a:ext cx="6808218" cy="840669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C612E-00D5-8BB5-DA67-BB21E1295C73}"/>
              </a:ext>
            </a:extLst>
          </p:cNvPr>
          <p:cNvSpPr txBox="1"/>
          <p:nvPr/>
        </p:nvSpPr>
        <p:spPr>
          <a:xfrm>
            <a:off x="508000" y="1692275"/>
            <a:ext cx="6583171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ECDSA?</a:t>
            </a:r>
          </a:p>
          <a:p>
            <a:r>
              <a:rPr lang="en-US" b="1" dirty="0"/>
              <a:t>ECDSA</a:t>
            </a:r>
            <a:r>
              <a:rPr lang="en-US" dirty="0"/>
              <a:t> stands for </a:t>
            </a:r>
            <a:r>
              <a:rPr lang="en-US" b="1" dirty="0"/>
              <a:t>Elliptic Curve Digital Signature Algorithm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cryptographic algorithm</a:t>
            </a:r>
            <a:r>
              <a:rPr lang="en-US" dirty="0"/>
              <a:t> used to create and verify </a:t>
            </a:r>
            <a:r>
              <a:rPr lang="en-US" b="1" dirty="0"/>
              <a:t>digital signatures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b="1" dirty="0"/>
              <a:t>blockchain systems</a:t>
            </a:r>
            <a:r>
              <a:rPr lang="en-US" dirty="0"/>
              <a:t> like </a:t>
            </a:r>
            <a:r>
              <a:rPr lang="en-US" b="1" dirty="0"/>
              <a:t>Bitcoin</a:t>
            </a:r>
            <a:r>
              <a:rPr lang="en-US" dirty="0"/>
              <a:t> and </a:t>
            </a:r>
            <a:r>
              <a:rPr lang="en-US" b="1" dirty="0"/>
              <a:t>Ethereum</a:t>
            </a:r>
            <a:r>
              <a:rPr lang="en-US" dirty="0"/>
              <a:t>, ECDSA ensures that:</a:t>
            </a:r>
          </a:p>
          <a:p>
            <a:r>
              <a:rPr lang="en-US" dirty="0"/>
              <a:t>Only the rightful owner of a private key can sign a transaction.</a:t>
            </a:r>
          </a:p>
          <a:p>
            <a:r>
              <a:rPr lang="en-US" dirty="0"/>
              <a:t>Anyone can verify that the signature is valid using the corresponding public key.</a:t>
            </a:r>
          </a:p>
          <a:p>
            <a:r>
              <a:rPr lang="en-US" dirty="0"/>
              <a:t>ECDSA is based on </a:t>
            </a:r>
            <a:r>
              <a:rPr lang="en-US" b="1" dirty="0"/>
              <a:t>elliptic curve mathematics</a:t>
            </a:r>
            <a:r>
              <a:rPr lang="en-US" dirty="0"/>
              <a:t>, which provides </a:t>
            </a:r>
            <a:r>
              <a:rPr lang="en-US" b="1" dirty="0"/>
              <a:t>high security with smaller key sizes</a:t>
            </a:r>
            <a:r>
              <a:rPr lang="en-US" dirty="0"/>
              <a:t> compared to traditional algorithms like RSA.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Points</a:t>
            </a:r>
          </a:p>
          <a:p>
            <a:r>
              <a:rPr lang="en-US" b="1" dirty="0"/>
              <a:t>Private key:</a:t>
            </a:r>
            <a:r>
              <a:rPr lang="en-US" dirty="0"/>
              <a:t> A secret number used to create signatures.</a:t>
            </a:r>
          </a:p>
          <a:p>
            <a:r>
              <a:rPr lang="en-US" b="1" dirty="0"/>
              <a:t>Public key:</a:t>
            </a:r>
            <a:r>
              <a:rPr lang="en-US" dirty="0"/>
              <a:t> Derived from the private key; used by others to verify signatures.</a:t>
            </a:r>
          </a:p>
          <a:p>
            <a:r>
              <a:rPr lang="en-US" b="1" dirty="0"/>
              <a:t>Digital signature:</a:t>
            </a:r>
            <a:r>
              <a:rPr lang="en-US" dirty="0"/>
              <a:t> A unique code that proves a message or transaction was created by the owner of the private key.</a:t>
            </a:r>
          </a:p>
          <a:p>
            <a:r>
              <a:rPr lang="en-US" b="1" dirty="0"/>
              <a:t>Used in blockchain:</a:t>
            </a:r>
            <a:r>
              <a:rPr lang="en-US" dirty="0"/>
              <a:t> To sign transactions and confirm ownership without revealing the private key.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Example (in simple terms)</a:t>
            </a:r>
          </a:p>
          <a:p>
            <a:r>
              <a:rPr lang="en-US" dirty="0"/>
              <a:t>You create a Bitcoin transaction and </a:t>
            </a:r>
            <a:r>
              <a:rPr lang="en-US" b="1" dirty="0"/>
              <a:t>sign</a:t>
            </a:r>
            <a:r>
              <a:rPr lang="en-US" dirty="0"/>
              <a:t> it using your private key (ECDSA).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86429" y="7246619"/>
            <a:ext cx="1275715" cy="144145"/>
            <a:chOff x="3186429" y="7246619"/>
            <a:chExt cx="1275715" cy="144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6429" y="7246619"/>
              <a:ext cx="372592" cy="1436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399" y="7246619"/>
              <a:ext cx="349554" cy="1436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2112" y="7248778"/>
              <a:ext cx="128511" cy="1393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06926" y="724839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101473" y="115570"/>
                  </a:moveTo>
                  <a:lnTo>
                    <a:pt x="27051" y="115570"/>
                  </a:lnTo>
                  <a:lnTo>
                    <a:pt x="27051" y="77470"/>
                  </a:lnTo>
                  <a:lnTo>
                    <a:pt x="93980" y="77470"/>
                  </a:lnTo>
                  <a:lnTo>
                    <a:pt x="93980" y="54610"/>
                  </a:lnTo>
                  <a:lnTo>
                    <a:pt x="27051" y="54610"/>
                  </a:lnTo>
                  <a:lnTo>
                    <a:pt x="27051" y="24130"/>
                  </a:lnTo>
                  <a:lnTo>
                    <a:pt x="99060" y="24130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4610"/>
                  </a:lnTo>
                  <a:lnTo>
                    <a:pt x="0" y="7747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101473" y="139700"/>
                  </a:lnTo>
                  <a:lnTo>
                    <a:pt x="101473" y="11557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0750" y="7248524"/>
              <a:ext cx="231114" cy="1397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827145" y="9879328"/>
            <a:ext cx="375920" cy="103505"/>
            <a:chOff x="3827145" y="9879328"/>
            <a:chExt cx="375920" cy="10350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7145" y="9879328"/>
              <a:ext cx="307073" cy="1034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73474" y="9906876"/>
              <a:ext cx="29845" cy="74930"/>
            </a:xfrm>
            <a:custGeom>
              <a:avLst/>
              <a:gdLst/>
              <a:ahLst/>
              <a:cxnLst/>
              <a:rect l="l" t="t" r="r" b="b"/>
              <a:pathLst>
                <a:path w="29845" h="74929">
                  <a:moveTo>
                    <a:pt x="20193" y="55105"/>
                  </a:moveTo>
                  <a:lnTo>
                    <a:pt x="3175" y="55105"/>
                  </a:lnTo>
                  <a:lnTo>
                    <a:pt x="0" y="74422"/>
                  </a:lnTo>
                  <a:lnTo>
                    <a:pt x="15875" y="74422"/>
                  </a:lnTo>
                  <a:lnTo>
                    <a:pt x="20193" y="55105"/>
                  </a:lnTo>
                  <a:close/>
                </a:path>
                <a:path w="29845" h="74929">
                  <a:moveTo>
                    <a:pt x="29464" y="0"/>
                  </a:moveTo>
                  <a:lnTo>
                    <a:pt x="12954" y="0"/>
                  </a:lnTo>
                  <a:lnTo>
                    <a:pt x="9398" y="19672"/>
                  </a:lnTo>
                  <a:lnTo>
                    <a:pt x="25527" y="19672"/>
                  </a:lnTo>
                  <a:lnTo>
                    <a:pt x="29464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2608" y="552703"/>
            <a:ext cx="4614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baseline="-8680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2400" b="1" spc="67" baseline="-86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9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6558" y="546607"/>
            <a:ext cx="186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6880" y="5064632"/>
            <a:ext cx="1477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Observations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43483" y="7535925"/>
          <a:ext cx="6664958" cy="1764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695"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Rubrics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Concept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Planning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Execution/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Practical</a:t>
                      </a:r>
                      <a:r>
                        <a:rPr sz="1050" spc="-1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Simulation/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Programming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4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Interpretation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Applied and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r>
                        <a:rPr sz="1050" spc="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Learning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Viva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b="1" spc="-25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824096" y="9570211"/>
            <a:ext cx="1807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Signature</a:t>
            </a:r>
            <a:r>
              <a:rPr sz="120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of</a:t>
            </a:r>
            <a:r>
              <a:rPr sz="1200" b="1" i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211E1F"/>
                </a:solidFill>
                <a:latin typeface="Arial"/>
                <a:cs typeface="Arial"/>
              </a:rPr>
              <a:t>the</a:t>
            </a:r>
            <a:r>
              <a:rPr sz="120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Student: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072" y="10027411"/>
            <a:ext cx="17189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Signature</a:t>
            </a:r>
            <a:r>
              <a:rPr sz="1150" b="1" i="1" spc="-5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of</a:t>
            </a:r>
            <a:r>
              <a:rPr sz="1150" b="1" i="1" spc="-3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the</a:t>
            </a:r>
            <a:r>
              <a:rPr sz="115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spc="-10" dirty="0">
                <a:solidFill>
                  <a:srgbClr val="211E1F"/>
                </a:solidFill>
                <a:latin typeface="Arial"/>
                <a:cs typeface="Arial"/>
              </a:rPr>
              <a:t>Faculty: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84854" y="7592187"/>
            <a:ext cx="214604" cy="11175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6380" y="7592187"/>
            <a:ext cx="312115" cy="11175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29404" y="7589821"/>
            <a:ext cx="967739" cy="11425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25159" y="7592187"/>
            <a:ext cx="548779" cy="11175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433070" y="935723"/>
            <a:ext cx="6671945" cy="4001770"/>
            <a:chOff x="433070" y="935723"/>
            <a:chExt cx="6671945" cy="4001770"/>
          </a:xfrm>
        </p:grpSpPr>
        <p:sp>
          <p:nvSpPr>
            <p:cNvPr id="22" name="object 22"/>
            <p:cNvSpPr/>
            <p:nvPr/>
          </p:nvSpPr>
          <p:spPr>
            <a:xfrm>
              <a:off x="438289" y="940942"/>
              <a:ext cx="6661150" cy="3990975"/>
            </a:xfrm>
            <a:custGeom>
              <a:avLst/>
              <a:gdLst/>
              <a:ahLst/>
              <a:cxnLst/>
              <a:rect l="l" t="t" r="r" b="b"/>
              <a:pathLst>
                <a:path w="6661150" h="3990975">
                  <a:moveTo>
                    <a:pt x="0" y="3990975"/>
                  </a:moveTo>
                  <a:lnTo>
                    <a:pt x="6661023" y="3990975"/>
                  </a:lnTo>
                  <a:lnTo>
                    <a:pt x="6661023" y="0"/>
                  </a:lnTo>
                  <a:lnTo>
                    <a:pt x="0" y="0"/>
                  </a:lnTo>
                  <a:lnTo>
                    <a:pt x="0" y="3990975"/>
                  </a:lnTo>
                  <a:close/>
                </a:path>
              </a:pathLst>
            </a:custGeom>
            <a:ln w="10439">
              <a:solidFill>
                <a:srgbClr val="211E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9089" y="971295"/>
              <a:ext cx="6480047" cy="386994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826509" y="10112031"/>
            <a:ext cx="523240" cy="132715"/>
            <a:chOff x="3826509" y="10112031"/>
            <a:chExt cx="523240" cy="132715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9" y="10112031"/>
              <a:ext cx="306717" cy="1321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76775" y="10112031"/>
              <a:ext cx="172796" cy="104038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396105" y="10139971"/>
            <a:ext cx="29845" cy="74930"/>
          </a:xfrm>
          <a:custGeom>
            <a:avLst/>
            <a:gdLst/>
            <a:ahLst/>
            <a:cxnLst/>
            <a:rect l="l" t="t" r="r" b="b"/>
            <a:pathLst>
              <a:path w="29845" h="74929">
                <a:moveTo>
                  <a:pt x="19431" y="54356"/>
                </a:moveTo>
                <a:lnTo>
                  <a:pt x="2921" y="54356"/>
                </a:lnTo>
                <a:lnTo>
                  <a:pt x="0" y="74879"/>
                </a:lnTo>
                <a:lnTo>
                  <a:pt x="16256" y="74879"/>
                </a:lnTo>
                <a:lnTo>
                  <a:pt x="19431" y="54356"/>
                </a:lnTo>
                <a:close/>
              </a:path>
              <a:path w="29845" h="74929">
                <a:moveTo>
                  <a:pt x="29464" y="0"/>
                </a:moveTo>
                <a:lnTo>
                  <a:pt x="12192" y="0"/>
                </a:lnTo>
                <a:lnTo>
                  <a:pt x="9398" y="18719"/>
                </a:lnTo>
                <a:lnTo>
                  <a:pt x="26289" y="18719"/>
                </a:lnTo>
                <a:lnTo>
                  <a:pt x="29464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242050" y="9984396"/>
            <a:ext cx="921385" cy="197485"/>
            <a:chOff x="6242050" y="9984396"/>
            <a:chExt cx="921385" cy="197485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42050" y="9984396"/>
              <a:ext cx="587463" cy="19691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40347" y="10132707"/>
              <a:ext cx="323215" cy="18415"/>
            </a:xfrm>
            <a:custGeom>
              <a:avLst/>
              <a:gdLst/>
              <a:ahLst/>
              <a:cxnLst/>
              <a:rect l="l" t="t" r="r" b="b"/>
              <a:pathLst>
                <a:path w="323215" h="18415">
                  <a:moveTo>
                    <a:pt x="14020" y="0"/>
                  </a:moveTo>
                  <a:lnTo>
                    <a:pt x="0" y="0"/>
                  </a:lnTo>
                  <a:lnTo>
                    <a:pt x="0" y="18364"/>
                  </a:lnTo>
                  <a:lnTo>
                    <a:pt x="14020" y="18364"/>
                  </a:lnTo>
                  <a:lnTo>
                    <a:pt x="14020" y="0"/>
                  </a:lnTo>
                  <a:close/>
                </a:path>
                <a:path w="323215" h="18415">
                  <a:moveTo>
                    <a:pt x="45237" y="0"/>
                  </a:moveTo>
                  <a:lnTo>
                    <a:pt x="30861" y="0"/>
                  </a:lnTo>
                  <a:lnTo>
                    <a:pt x="30861" y="18364"/>
                  </a:lnTo>
                  <a:lnTo>
                    <a:pt x="45237" y="18364"/>
                  </a:lnTo>
                  <a:lnTo>
                    <a:pt x="45237" y="0"/>
                  </a:lnTo>
                  <a:close/>
                </a:path>
                <a:path w="323215" h="18415">
                  <a:moveTo>
                    <a:pt x="71234" y="0"/>
                  </a:moveTo>
                  <a:lnTo>
                    <a:pt x="56134" y="0"/>
                  </a:lnTo>
                  <a:lnTo>
                    <a:pt x="56134" y="18364"/>
                  </a:lnTo>
                  <a:lnTo>
                    <a:pt x="71234" y="18364"/>
                  </a:lnTo>
                  <a:lnTo>
                    <a:pt x="71234" y="0"/>
                  </a:lnTo>
                  <a:close/>
                </a:path>
                <a:path w="323215" h="18415">
                  <a:moveTo>
                    <a:pt x="97142" y="0"/>
                  </a:moveTo>
                  <a:lnTo>
                    <a:pt x="82042" y="0"/>
                  </a:lnTo>
                  <a:lnTo>
                    <a:pt x="82042" y="18364"/>
                  </a:lnTo>
                  <a:lnTo>
                    <a:pt x="97142" y="18364"/>
                  </a:lnTo>
                  <a:lnTo>
                    <a:pt x="97142" y="0"/>
                  </a:lnTo>
                  <a:close/>
                </a:path>
                <a:path w="323215" h="18415">
                  <a:moveTo>
                    <a:pt x="120789" y="0"/>
                  </a:moveTo>
                  <a:lnTo>
                    <a:pt x="106045" y="0"/>
                  </a:lnTo>
                  <a:lnTo>
                    <a:pt x="106045" y="18364"/>
                  </a:lnTo>
                  <a:lnTo>
                    <a:pt x="120789" y="18364"/>
                  </a:lnTo>
                  <a:lnTo>
                    <a:pt x="120789" y="0"/>
                  </a:lnTo>
                  <a:close/>
                </a:path>
                <a:path w="323215" h="18415">
                  <a:moveTo>
                    <a:pt x="144894" y="0"/>
                  </a:moveTo>
                  <a:lnTo>
                    <a:pt x="129794" y="0"/>
                  </a:lnTo>
                  <a:lnTo>
                    <a:pt x="129794" y="18364"/>
                  </a:lnTo>
                  <a:lnTo>
                    <a:pt x="144894" y="18364"/>
                  </a:lnTo>
                  <a:lnTo>
                    <a:pt x="144894" y="0"/>
                  </a:lnTo>
                  <a:close/>
                </a:path>
                <a:path w="323215" h="18415">
                  <a:moveTo>
                    <a:pt x="166509" y="0"/>
                  </a:moveTo>
                  <a:lnTo>
                    <a:pt x="151765" y="0"/>
                  </a:lnTo>
                  <a:lnTo>
                    <a:pt x="151765" y="18364"/>
                  </a:lnTo>
                  <a:lnTo>
                    <a:pt x="166509" y="18364"/>
                  </a:lnTo>
                  <a:lnTo>
                    <a:pt x="166509" y="0"/>
                  </a:lnTo>
                  <a:close/>
                </a:path>
                <a:path w="323215" h="18415">
                  <a:moveTo>
                    <a:pt x="192455" y="0"/>
                  </a:moveTo>
                  <a:lnTo>
                    <a:pt x="178435" y="0"/>
                  </a:lnTo>
                  <a:lnTo>
                    <a:pt x="178435" y="18364"/>
                  </a:lnTo>
                  <a:lnTo>
                    <a:pt x="192455" y="18364"/>
                  </a:lnTo>
                  <a:lnTo>
                    <a:pt x="192455" y="0"/>
                  </a:lnTo>
                  <a:close/>
                </a:path>
                <a:path w="323215" h="18415">
                  <a:moveTo>
                    <a:pt x="223697" y="0"/>
                  </a:moveTo>
                  <a:lnTo>
                    <a:pt x="209677" y="0"/>
                  </a:lnTo>
                  <a:lnTo>
                    <a:pt x="209677" y="18364"/>
                  </a:lnTo>
                  <a:lnTo>
                    <a:pt x="223697" y="18364"/>
                  </a:lnTo>
                  <a:lnTo>
                    <a:pt x="223697" y="0"/>
                  </a:lnTo>
                  <a:close/>
                </a:path>
                <a:path w="323215" h="18415">
                  <a:moveTo>
                    <a:pt x="249567" y="0"/>
                  </a:moveTo>
                  <a:lnTo>
                    <a:pt x="234823" y="0"/>
                  </a:lnTo>
                  <a:lnTo>
                    <a:pt x="234823" y="18364"/>
                  </a:lnTo>
                  <a:lnTo>
                    <a:pt x="249567" y="18364"/>
                  </a:lnTo>
                  <a:lnTo>
                    <a:pt x="249567" y="0"/>
                  </a:lnTo>
                  <a:close/>
                </a:path>
                <a:path w="323215" h="18415">
                  <a:moveTo>
                    <a:pt x="275475" y="0"/>
                  </a:moveTo>
                  <a:lnTo>
                    <a:pt x="260731" y="0"/>
                  </a:lnTo>
                  <a:lnTo>
                    <a:pt x="260731" y="18364"/>
                  </a:lnTo>
                  <a:lnTo>
                    <a:pt x="275475" y="18364"/>
                  </a:lnTo>
                  <a:lnTo>
                    <a:pt x="275475" y="0"/>
                  </a:lnTo>
                  <a:close/>
                </a:path>
                <a:path w="323215" h="18415">
                  <a:moveTo>
                    <a:pt x="299580" y="0"/>
                  </a:moveTo>
                  <a:lnTo>
                    <a:pt x="284480" y="0"/>
                  </a:lnTo>
                  <a:lnTo>
                    <a:pt x="284480" y="18364"/>
                  </a:lnTo>
                  <a:lnTo>
                    <a:pt x="299580" y="18364"/>
                  </a:lnTo>
                  <a:lnTo>
                    <a:pt x="299580" y="0"/>
                  </a:lnTo>
                  <a:close/>
                </a:path>
                <a:path w="323215" h="18415">
                  <a:moveTo>
                    <a:pt x="322630" y="0"/>
                  </a:moveTo>
                  <a:lnTo>
                    <a:pt x="308610" y="0"/>
                  </a:lnTo>
                  <a:lnTo>
                    <a:pt x="308610" y="18364"/>
                  </a:lnTo>
                  <a:lnTo>
                    <a:pt x="322630" y="18364"/>
                  </a:lnTo>
                  <a:lnTo>
                    <a:pt x="322630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48309" y="5460364"/>
            <a:ext cx="6662420" cy="121956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/>
              <a:t>ECDSA</a:t>
            </a:r>
            <a:r>
              <a:rPr lang="en-US" sz="1400" dirty="0"/>
              <a:t> is a </a:t>
            </a:r>
            <a:r>
              <a:rPr lang="en-US" sz="1400" b="1" dirty="0"/>
              <a:t>public-key cryptographic algorithm</a:t>
            </a:r>
            <a:r>
              <a:rPr lang="en-US" sz="1400" dirty="0"/>
              <a:t> used for </a:t>
            </a:r>
            <a:r>
              <a:rPr lang="en-US" sz="1400" b="1" dirty="0"/>
              <a:t>digital signatures</a:t>
            </a:r>
            <a:r>
              <a:rPr lang="en-US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It ensures </a:t>
            </a:r>
            <a:r>
              <a:rPr lang="en-US" sz="1400" b="1" dirty="0"/>
              <a:t>authentication, integrity, and non-repudiation</a:t>
            </a:r>
            <a:r>
              <a:rPr lang="en-US" sz="1400" dirty="0"/>
              <a:t> of messages or transactions.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Based on </a:t>
            </a:r>
            <a:r>
              <a:rPr lang="en-US" sz="1400" b="1" dirty="0"/>
              <a:t>elliptic curve cryptography (ECC)</a:t>
            </a:r>
            <a:r>
              <a:rPr lang="en-US" sz="1400" dirty="0"/>
              <a:t>, it provides the same security as RSA but with </a:t>
            </a:r>
            <a:r>
              <a:rPr lang="en-US" sz="1400" b="1" dirty="0"/>
              <a:t>smaller key sizes</a:t>
            </a:r>
            <a:r>
              <a:rPr lang="en-US" sz="1400" dirty="0"/>
              <a:t>.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518</Words>
  <Application>Microsoft Office PowerPoint</Application>
  <PresentationFormat>Custom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MT</vt:lpstr>
      <vt:lpstr>Arial Rounded MT Bold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2025-10-31T17:14:46Z</dcterms:created>
  <dcterms:modified xsi:type="dcterms:W3CDTF">2025-10-31T19:18:04Z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2025-08-25T00:00:00Z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2025-10-31T00:00:00Z</vt:filetime>
  </property>
  <property fmtid="{D5CDD505-2E9C-101B-9397-08002B2CF9AE}" pid="5" name="Producer">
    <vt:lpwstr>Microsoft® Word LTSC</vt:lpwstr>
  </property>
</Properties>
</file>